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72" y="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gs" Target="tags/tag2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300480" y="200660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浏览器</a:t>
            </a:r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>
            <a:off x="2694305" y="196913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473700" y="365506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http-proxy</a:t>
            </a:r>
            <a:r>
              <a:rPr lang="zh-CN" altLang="en-US"/>
              <a:t>代理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796155" y="1606550"/>
            <a:ext cx="2661920" cy="302069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35575" y="1819910"/>
            <a:ext cx="17830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ctr"/>
            <a:r>
              <a:rPr lang="zh-CN" altLang="en-US"/>
              <a:t>本地开发服务器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7018655" y="3747770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右箭头 12"/>
          <p:cNvSpPr/>
          <p:nvPr/>
        </p:nvSpPr>
        <p:spPr>
          <a:xfrm rot="5400000">
            <a:off x="5450840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5260340" y="2445385"/>
            <a:ext cx="6807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提供代理请求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78010" y="3655060"/>
            <a:ext cx="14605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后端服务</a:t>
            </a:r>
            <a:endParaRPr lang="zh-CN" altLang="en-US"/>
          </a:p>
          <a:p>
            <a:pPr algn="ctr"/>
            <a:r>
              <a:rPr lang="zh-CN" altLang="en-US"/>
              <a:t>可能有多个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462520" y="3371850"/>
            <a:ext cx="1757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跨域接口请求</a:t>
            </a:r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 rot="10800000">
            <a:off x="7018655" y="4017645"/>
            <a:ext cx="23025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7717155" y="4217035"/>
            <a:ext cx="11264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  <p:sp>
        <p:nvSpPr>
          <p:cNvPr id="19" name="右箭头 18"/>
          <p:cNvSpPr/>
          <p:nvPr/>
        </p:nvSpPr>
        <p:spPr>
          <a:xfrm rot="16200000">
            <a:off x="5732145" y="2818130"/>
            <a:ext cx="109347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6337935" y="2583815"/>
            <a:ext cx="6807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</a:t>
            </a:r>
            <a:endParaRPr lang="zh-CN" altLang="en-US"/>
          </a:p>
          <a:p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04515" y="1606550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接口请求</a:t>
            </a:r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 rot="10800000">
            <a:off x="2680970" y="2209800"/>
            <a:ext cx="2008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086100" y="2431415"/>
            <a:ext cx="1193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返回数据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准备页面数据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671195" y="89789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504825" y="497141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45795" y="533336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展示页面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857240" y="882650"/>
            <a:ext cx="9112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请求页面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20765" y="241363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4" name="文本框 43"/>
          <p:cNvSpPr txBox="1"/>
          <p:nvPr/>
        </p:nvSpPr>
        <p:spPr>
          <a:xfrm>
            <a:off x="5673090" y="232219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63235" y="27806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2120900" y="6141720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非流式渲染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9126220" y="2435225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准备部分页面数据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087110" y="3764280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3" name="文本框 52"/>
          <p:cNvSpPr txBox="1"/>
          <p:nvPr/>
        </p:nvSpPr>
        <p:spPr>
          <a:xfrm>
            <a:off x="5639435" y="3672840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4975" y="409003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展示部分页面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流式渲染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12510" y="4952365"/>
            <a:ext cx="44386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7" name="文本框 66"/>
          <p:cNvSpPr txBox="1"/>
          <p:nvPr/>
        </p:nvSpPr>
        <p:spPr>
          <a:xfrm>
            <a:off x="5664835" y="4860925"/>
            <a:ext cx="614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渲染</a:t>
            </a:r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40375" y="527812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展示完整页面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63575" y="37719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12" name="右箭头 11"/>
          <p:cNvSpPr/>
          <p:nvPr/>
        </p:nvSpPr>
        <p:spPr>
          <a:xfrm>
            <a:off x="1737360" y="94742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3" name="右箭头 12"/>
          <p:cNvSpPr/>
          <p:nvPr/>
        </p:nvSpPr>
        <p:spPr>
          <a:xfrm rot="5400000">
            <a:off x="1897380" y="2820670"/>
            <a:ext cx="33947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4" name="文本框 13"/>
          <p:cNvSpPr txBox="1"/>
          <p:nvPr/>
        </p:nvSpPr>
        <p:spPr>
          <a:xfrm>
            <a:off x="3809365" y="2579370"/>
            <a:ext cx="6940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准备数据</a:t>
            </a:r>
            <a:endParaRPr lang="zh-CN" altLang="en-US" sz="1400"/>
          </a:p>
        </p:txBody>
      </p:sp>
      <p:sp>
        <p:nvSpPr>
          <p:cNvPr id="15" name="文本框 14"/>
          <p:cNvSpPr txBox="1"/>
          <p:nvPr/>
        </p:nvSpPr>
        <p:spPr>
          <a:xfrm>
            <a:off x="3137535" y="37719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17" name="右箭头 16"/>
          <p:cNvSpPr/>
          <p:nvPr/>
        </p:nvSpPr>
        <p:spPr>
          <a:xfrm rot="10800000">
            <a:off x="1737360" y="467931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8" name="文本框 17"/>
          <p:cNvSpPr txBox="1"/>
          <p:nvPr/>
        </p:nvSpPr>
        <p:spPr>
          <a:xfrm>
            <a:off x="306705" y="897890"/>
            <a:ext cx="1275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请求数据接口</a:t>
            </a:r>
            <a:endParaRPr lang="zh-CN" altLang="en-US" sz="1400"/>
          </a:p>
        </p:txBody>
      </p:sp>
      <p:sp>
        <p:nvSpPr>
          <p:cNvPr id="21" name="文本框 20"/>
          <p:cNvSpPr txBox="1"/>
          <p:nvPr/>
        </p:nvSpPr>
        <p:spPr>
          <a:xfrm>
            <a:off x="3162300" y="897255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2" name="直接连接符 1"/>
          <p:cNvCxnSpPr/>
          <p:nvPr/>
        </p:nvCxnSpPr>
        <p:spPr>
          <a:xfrm>
            <a:off x="1595120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3126105" y="80264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3137535" y="4647565"/>
            <a:ext cx="10109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返回数据</a:t>
            </a:r>
            <a:endParaRPr lang="zh-CN" altLang="en-US" sz="1400"/>
          </a:p>
        </p:txBody>
      </p:sp>
      <p:sp>
        <p:nvSpPr>
          <p:cNvPr id="25" name="文本框 24"/>
          <p:cNvSpPr txBox="1"/>
          <p:nvPr/>
        </p:nvSpPr>
        <p:spPr>
          <a:xfrm>
            <a:off x="645795" y="462407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27" name="右箭头 26"/>
          <p:cNvSpPr/>
          <p:nvPr/>
        </p:nvSpPr>
        <p:spPr>
          <a:xfrm rot="5400000">
            <a:off x="948055" y="5032375"/>
            <a:ext cx="36385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9" name="文本框 28"/>
          <p:cNvSpPr txBox="1"/>
          <p:nvPr/>
        </p:nvSpPr>
        <p:spPr>
          <a:xfrm>
            <a:off x="635000" y="5318125"/>
            <a:ext cx="9664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展示数据</a:t>
            </a:r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894070" y="36195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浏览器</a:t>
            </a:r>
            <a:endParaRPr lang="zh-CN" altLang="en-US" sz="1400"/>
          </a:p>
        </p:txBody>
      </p:sp>
      <p:sp>
        <p:nvSpPr>
          <p:cNvPr id="32" name="右箭头 31"/>
          <p:cNvSpPr/>
          <p:nvPr/>
        </p:nvSpPr>
        <p:spPr>
          <a:xfrm>
            <a:off x="6967855" y="932180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3" name="右箭头 32"/>
          <p:cNvSpPr/>
          <p:nvPr/>
        </p:nvSpPr>
        <p:spPr>
          <a:xfrm rot="5400000">
            <a:off x="8553450" y="1380490"/>
            <a:ext cx="60769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9105900" y="1266190"/>
            <a:ext cx="13633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35" name="文本框 34"/>
          <p:cNvSpPr txBox="1"/>
          <p:nvPr/>
        </p:nvSpPr>
        <p:spPr>
          <a:xfrm>
            <a:off x="8355330" y="361950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HTTP</a:t>
            </a:r>
            <a:r>
              <a:rPr lang="zh-CN" altLang="en-US" sz="1400"/>
              <a:t>服务端</a:t>
            </a:r>
            <a:endParaRPr lang="zh-CN" altLang="en-US" sz="1400"/>
          </a:p>
        </p:txBody>
      </p:sp>
      <p:sp>
        <p:nvSpPr>
          <p:cNvPr id="36" name="右箭头 35"/>
          <p:cNvSpPr/>
          <p:nvPr/>
        </p:nvSpPr>
        <p:spPr>
          <a:xfrm rot="10800000">
            <a:off x="6988175" y="195326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5515610" y="882650"/>
            <a:ext cx="12528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>
                <a:sym typeface="+mn-ea"/>
              </a:rPr>
              <a:t>请求数据接口</a:t>
            </a:r>
            <a:endParaRPr lang="zh-CN" altLang="en-US" sz="1400"/>
          </a:p>
        </p:txBody>
      </p:sp>
      <p:sp>
        <p:nvSpPr>
          <p:cNvPr id="38" name="文本框 37"/>
          <p:cNvSpPr txBox="1"/>
          <p:nvPr/>
        </p:nvSpPr>
        <p:spPr>
          <a:xfrm>
            <a:off x="8405495" y="868680"/>
            <a:ext cx="9029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收到请求</a:t>
            </a:r>
            <a:endParaRPr lang="zh-CN" altLang="en-US" sz="1400"/>
          </a:p>
        </p:txBody>
      </p:sp>
      <p:cxnSp>
        <p:nvCxnSpPr>
          <p:cNvPr id="39" name="直接连接符 38"/>
          <p:cNvCxnSpPr/>
          <p:nvPr/>
        </p:nvCxnSpPr>
        <p:spPr>
          <a:xfrm>
            <a:off x="6825615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8356600" y="787400"/>
            <a:ext cx="0" cy="479044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8426450" y="1903730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42" name="文本框 41"/>
          <p:cNvSpPr txBox="1"/>
          <p:nvPr/>
        </p:nvSpPr>
        <p:spPr>
          <a:xfrm>
            <a:off x="5874385" y="195580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43" name="右箭头 42"/>
          <p:cNvSpPr/>
          <p:nvPr/>
        </p:nvSpPr>
        <p:spPr>
          <a:xfrm rot="5400000">
            <a:off x="6176010" y="2359025"/>
            <a:ext cx="3340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5" name="文本框 44"/>
          <p:cNvSpPr txBox="1"/>
          <p:nvPr/>
        </p:nvSpPr>
        <p:spPr>
          <a:xfrm>
            <a:off x="5573395" y="264096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46" name="文本框 45"/>
          <p:cNvSpPr txBox="1"/>
          <p:nvPr/>
        </p:nvSpPr>
        <p:spPr>
          <a:xfrm>
            <a:off x="16097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非流式传输</a:t>
            </a:r>
            <a:endParaRPr lang="zh-CN" altLang="en-US" sz="1400"/>
          </a:p>
        </p:txBody>
      </p:sp>
      <p:sp>
        <p:nvSpPr>
          <p:cNvPr id="47" name="右箭头 46"/>
          <p:cNvSpPr/>
          <p:nvPr/>
        </p:nvSpPr>
        <p:spPr>
          <a:xfrm rot="5400000">
            <a:off x="8392795" y="2667000"/>
            <a:ext cx="99441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8" name="文本框 47"/>
          <p:cNvSpPr txBox="1"/>
          <p:nvPr/>
        </p:nvSpPr>
        <p:spPr>
          <a:xfrm>
            <a:off x="8993505" y="242570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准备部分数据</a:t>
            </a:r>
            <a:endParaRPr lang="zh-CN" altLang="en-US" sz="1400"/>
          </a:p>
        </p:txBody>
      </p:sp>
      <p:sp>
        <p:nvSpPr>
          <p:cNvPr id="49" name="文本框 48"/>
          <p:cNvSpPr txBox="1"/>
          <p:nvPr/>
        </p:nvSpPr>
        <p:spPr>
          <a:xfrm>
            <a:off x="8426450" y="3330575"/>
            <a:ext cx="13658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返回部分数据</a:t>
            </a:r>
            <a:endParaRPr lang="zh-CN" altLang="en-US" sz="1400"/>
          </a:p>
        </p:txBody>
      </p:sp>
      <p:sp>
        <p:nvSpPr>
          <p:cNvPr id="50" name="右箭头 49"/>
          <p:cNvSpPr/>
          <p:nvPr/>
        </p:nvSpPr>
        <p:spPr>
          <a:xfrm rot="10800000">
            <a:off x="7023100" y="3380740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" name="文本框 50"/>
          <p:cNvSpPr txBox="1"/>
          <p:nvPr/>
        </p:nvSpPr>
        <p:spPr>
          <a:xfrm>
            <a:off x="5852160" y="3353435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52" name="右箭头 51"/>
          <p:cNvSpPr/>
          <p:nvPr/>
        </p:nvSpPr>
        <p:spPr>
          <a:xfrm rot="5400000">
            <a:off x="6121400" y="3730625"/>
            <a:ext cx="3759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4" name="文本框 53"/>
          <p:cNvSpPr txBox="1"/>
          <p:nvPr/>
        </p:nvSpPr>
        <p:spPr>
          <a:xfrm>
            <a:off x="5515610" y="4022090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展示部分数据</a:t>
            </a:r>
            <a:endParaRPr lang="zh-CN" altLang="en-US" sz="1400"/>
          </a:p>
        </p:txBody>
      </p:sp>
      <p:sp>
        <p:nvSpPr>
          <p:cNvPr id="55" name="文本框 54"/>
          <p:cNvSpPr txBox="1"/>
          <p:nvPr/>
        </p:nvSpPr>
        <p:spPr>
          <a:xfrm>
            <a:off x="6854825" y="5925185"/>
            <a:ext cx="1501775" cy="306705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流式传输</a:t>
            </a:r>
            <a:endParaRPr lang="zh-CN" altLang="en-US" sz="1400"/>
          </a:p>
        </p:txBody>
      </p:sp>
      <p:sp>
        <p:nvSpPr>
          <p:cNvPr id="56" name="右箭头 55"/>
          <p:cNvSpPr/>
          <p:nvPr/>
        </p:nvSpPr>
        <p:spPr>
          <a:xfrm rot="5400000">
            <a:off x="8437245" y="4010025"/>
            <a:ext cx="88074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1" name="矩形 60"/>
          <p:cNvSpPr/>
          <p:nvPr/>
        </p:nvSpPr>
        <p:spPr>
          <a:xfrm>
            <a:off x="5487035" y="1840230"/>
            <a:ext cx="4669155" cy="147637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10274300" y="2210435"/>
            <a:ext cx="60579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可以重复多次</a:t>
            </a:r>
            <a:endParaRPr lang="zh-CN" altLang="en-US" sz="1400"/>
          </a:p>
        </p:txBody>
      </p:sp>
      <p:sp>
        <p:nvSpPr>
          <p:cNvPr id="63" name="文本框 62"/>
          <p:cNvSpPr txBox="1"/>
          <p:nvPr/>
        </p:nvSpPr>
        <p:spPr>
          <a:xfrm>
            <a:off x="9065260" y="3741420"/>
            <a:ext cx="9582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准备最后的数据</a:t>
            </a:r>
            <a:endParaRPr lang="zh-CN" altLang="en-US" sz="1400"/>
          </a:p>
        </p:txBody>
      </p:sp>
      <p:sp>
        <p:nvSpPr>
          <p:cNvPr id="64" name="文本框 63"/>
          <p:cNvSpPr txBox="1"/>
          <p:nvPr/>
        </p:nvSpPr>
        <p:spPr>
          <a:xfrm>
            <a:off x="8426450" y="4554220"/>
            <a:ext cx="15233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返回最后的数据</a:t>
            </a:r>
            <a:endParaRPr lang="zh-CN" altLang="en-US" sz="1400"/>
          </a:p>
        </p:txBody>
      </p:sp>
      <p:sp>
        <p:nvSpPr>
          <p:cNvPr id="65" name="文本框 64"/>
          <p:cNvSpPr txBox="1"/>
          <p:nvPr/>
        </p:nvSpPr>
        <p:spPr>
          <a:xfrm>
            <a:off x="5877560" y="4541520"/>
            <a:ext cx="9366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收到数据</a:t>
            </a:r>
            <a:endParaRPr lang="zh-CN" altLang="en-US" sz="1400"/>
          </a:p>
        </p:txBody>
      </p:sp>
      <p:sp>
        <p:nvSpPr>
          <p:cNvPr id="66" name="右箭头 65"/>
          <p:cNvSpPr/>
          <p:nvPr/>
        </p:nvSpPr>
        <p:spPr>
          <a:xfrm rot="5400000">
            <a:off x="6163310" y="4902200"/>
            <a:ext cx="34290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8" name="文本框 67"/>
          <p:cNvSpPr txBox="1"/>
          <p:nvPr/>
        </p:nvSpPr>
        <p:spPr>
          <a:xfrm>
            <a:off x="5539105" y="5177155"/>
            <a:ext cx="12814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展示完整数据</a:t>
            </a:r>
            <a:endParaRPr lang="zh-CN" altLang="en-US" sz="1400"/>
          </a:p>
        </p:txBody>
      </p:sp>
      <p:sp>
        <p:nvSpPr>
          <p:cNvPr id="69" name="右箭头 68"/>
          <p:cNvSpPr/>
          <p:nvPr/>
        </p:nvSpPr>
        <p:spPr>
          <a:xfrm rot="10800000">
            <a:off x="6992620" y="4620895"/>
            <a:ext cx="122618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737360" y="946785"/>
            <a:ext cx="124650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456055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sp>
        <p:nvSpPr>
          <p:cNvPr id="6" name="文本框 5"/>
          <p:cNvSpPr txBox="1"/>
          <p:nvPr/>
        </p:nvSpPr>
        <p:spPr>
          <a:xfrm>
            <a:off x="507333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Tokens</a:t>
            </a:r>
            <a:endParaRPr lang="en-US" altLang="zh-CN" sz="1400"/>
          </a:p>
        </p:txBody>
      </p:sp>
      <p:sp>
        <p:nvSpPr>
          <p:cNvPr id="7" name="文本框 6"/>
          <p:cNvSpPr txBox="1"/>
          <p:nvPr/>
        </p:nvSpPr>
        <p:spPr>
          <a:xfrm>
            <a:off x="9180513" y="1741805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</a:t>
            </a:r>
            <a:endParaRPr lang="en-US" altLang="zh-CN" sz="1400"/>
          </a:p>
        </p:txBody>
      </p:sp>
      <p:grpSp>
        <p:nvGrpSpPr>
          <p:cNvPr id="42" name="组合 41"/>
          <p:cNvGrpSpPr/>
          <p:nvPr/>
        </p:nvGrpSpPr>
        <p:grpSpPr>
          <a:xfrm>
            <a:off x="3023235" y="3837623"/>
            <a:ext cx="1245870" cy="513715"/>
            <a:chOff x="3490" y="4192"/>
            <a:chExt cx="1962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3760" y="419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词法分析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898005" y="3837623"/>
            <a:ext cx="1245870" cy="513715"/>
            <a:chOff x="9642" y="4372"/>
            <a:chExt cx="1962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12" y="4372"/>
              <a:ext cx="142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语法分析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134745" y="3910330"/>
            <a:ext cx="156972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/>
              <a:t>const a = 2 + 1</a:t>
            </a:r>
            <a:endParaRPr lang="zh-CN" altLang="en-US"/>
          </a:p>
        </p:txBody>
      </p:sp>
      <p:graphicFrame>
        <p:nvGraphicFramePr>
          <p:cNvPr id="19" name="表格 18"/>
          <p:cNvGraphicFramePr/>
          <p:nvPr>
            <p:custDataLst>
              <p:tags r:id="rId1"/>
            </p:custDataLst>
          </p:nvPr>
        </p:nvGraphicFramePr>
        <p:xfrm>
          <a:off x="4491355" y="2774315"/>
          <a:ext cx="2090420" cy="264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210"/>
                <a:gridCol w="1045210"/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类型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/>
                        <a:t>值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Keyword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const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Identifier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a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=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2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Punctuator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+</a:t>
                      </a:r>
                      <a:endParaRPr lang="zh-CN" altLang="en-US" sz="1000"/>
                    </a:p>
                  </a:txBody>
                  <a:tcPr anchor="ctr"/>
                </a:tc>
              </a:tr>
              <a:tr h="3790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Numeric</a:t>
                      </a:r>
                      <a:endParaRPr lang="zh-CN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000">
                          <a:sym typeface="+mn-ea"/>
                        </a:rPr>
                        <a:t>1</a:t>
                      </a:r>
                      <a:endParaRPr lang="zh-CN" altLang="en-US" sz="100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39" name="组合 38"/>
          <p:cNvGrpSpPr/>
          <p:nvPr/>
        </p:nvGrpSpPr>
        <p:grpSpPr>
          <a:xfrm>
            <a:off x="8291195" y="2355215"/>
            <a:ext cx="2706370" cy="3478530"/>
            <a:chOff x="13129" y="3709"/>
            <a:chExt cx="4262" cy="5478"/>
          </a:xfrm>
        </p:grpSpPr>
        <p:sp>
          <p:nvSpPr>
            <p:cNvPr id="27" name="文本框 26"/>
            <p:cNvSpPr txBox="1"/>
            <p:nvPr/>
          </p:nvSpPr>
          <p:spPr>
            <a:xfrm>
              <a:off x="14210" y="3709"/>
              <a:ext cx="210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r>
                <a:rPr lang="en-US" altLang="zh-CN" sz="1400"/>
                <a:t> script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40" y="4958"/>
              <a:ext cx="3641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VariableDeclaration</a:t>
              </a:r>
              <a:r>
                <a:rPr lang="en-US" altLang="zh-CN" sz="1400"/>
                <a:t> const</a:t>
              </a:r>
              <a:endParaRPr lang="en-US" altLang="zh-CN" sz="140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3714" y="6207"/>
              <a:ext cx="309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VariableDeclarator</a:t>
              </a:r>
              <a:r>
                <a:rPr lang="en-US" altLang="zh-CN" sz="1400"/>
                <a:t> a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3814" y="7456"/>
              <a:ext cx="289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BinaryExpression</a:t>
              </a:r>
              <a:r>
                <a:rPr lang="en-US" altLang="zh-CN" sz="1400"/>
                <a:t> +</a:t>
              </a:r>
              <a:endParaRPr lang="en-US" altLang="zh-CN" sz="1400"/>
            </a:p>
          </p:txBody>
        </p:sp>
        <p:grpSp>
          <p:nvGrpSpPr>
            <p:cNvPr id="33" name="组合 32"/>
            <p:cNvGrpSpPr/>
            <p:nvPr/>
          </p:nvGrpSpPr>
          <p:grpSpPr>
            <a:xfrm>
              <a:off x="13129" y="8705"/>
              <a:ext cx="4263" cy="482"/>
              <a:chOff x="10502" y="8690"/>
              <a:chExt cx="4263" cy="482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10502" y="8690"/>
                <a:ext cx="1654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/>
                  <a:t>Literal</a:t>
                </a:r>
                <a:r>
                  <a:rPr lang="en-US" altLang="zh-CN" sz="1400"/>
                  <a:t> 2</a:t>
                </a:r>
                <a:endParaRPr lang="en-US" altLang="zh-CN" sz="1400"/>
              </a:p>
            </p:txBody>
          </p:sp>
          <p:sp>
            <p:nvSpPr>
              <p:cNvPr id="32" name="文本框 31"/>
              <p:cNvSpPr txBox="1"/>
              <p:nvPr/>
            </p:nvSpPr>
            <p:spPr>
              <a:xfrm>
                <a:off x="13177" y="8690"/>
                <a:ext cx="1588" cy="4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sz="1400"/>
                  <a:t>Literal</a:t>
                </a:r>
                <a:r>
                  <a:rPr lang="en-US" sz="1400"/>
                  <a:t> 1</a:t>
                </a:r>
                <a:endParaRPr lang="en-US" sz="1400"/>
              </a:p>
            </p:txBody>
          </p:sp>
        </p:grpSp>
        <p:cxnSp>
          <p:nvCxnSpPr>
            <p:cNvPr id="34" name="直接箭头连接符 33"/>
            <p:cNvCxnSpPr/>
            <p:nvPr/>
          </p:nvCxnSpPr>
          <p:spPr>
            <a:xfrm>
              <a:off x="15261" y="4192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/>
            <p:nvPr/>
          </p:nvCxnSpPr>
          <p:spPr>
            <a:xfrm>
              <a:off x="15260" y="544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15261" y="6690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/>
            <p:nvPr/>
          </p:nvCxnSpPr>
          <p:spPr>
            <a:xfrm flipH="1">
              <a:off x="13956" y="7939"/>
              <a:ext cx="1304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15261" y="7939"/>
              <a:ext cx="133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94373" y="1361440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</a:t>
            </a:r>
            <a:endParaRPr lang="zh-CN" altLang="en-US" sz="1400"/>
          </a:p>
        </p:txBody>
      </p:sp>
      <p:grpSp>
        <p:nvGrpSpPr>
          <p:cNvPr id="42" name="组合 41"/>
          <p:cNvGrpSpPr/>
          <p:nvPr/>
        </p:nvGrpSpPr>
        <p:grpSpPr>
          <a:xfrm>
            <a:off x="1915160" y="3177223"/>
            <a:ext cx="1246505" cy="513715"/>
            <a:chOff x="3490" y="4192"/>
            <a:chExt cx="1963" cy="809"/>
          </a:xfrm>
        </p:grpSpPr>
        <p:sp>
          <p:nvSpPr>
            <p:cNvPr id="8" name="右箭头 7"/>
            <p:cNvSpPr/>
            <p:nvPr/>
          </p:nvSpPr>
          <p:spPr>
            <a:xfrm>
              <a:off x="3490" y="467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4019" y="4192"/>
              <a:ext cx="90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解析</a:t>
              </a:r>
              <a:endParaRPr lang="zh-CN" altLang="en-US" sz="1400"/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163185" y="3177223"/>
            <a:ext cx="1246505" cy="513715"/>
            <a:chOff x="9642" y="4372"/>
            <a:chExt cx="1963" cy="809"/>
          </a:xfrm>
        </p:grpSpPr>
        <p:sp>
          <p:nvSpPr>
            <p:cNvPr id="10" name="右箭头 9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829" y="4372"/>
              <a:ext cx="159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遍历</a:t>
              </a:r>
              <a:r>
                <a:rPr lang="en-US" altLang="zh-CN" sz="1400"/>
                <a:t>+</a:t>
              </a:r>
              <a:r>
                <a:rPr lang="zh-CN" altLang="en-US" sz="1400"/>
                <a:t>修改</a:t>
              </a:r>
              <a:endParaRPr lang="zh-CN" altLang="en-US" sz="1400"/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345440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let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grpSp>
        <p:nvGrpSpPr>
          <p:cNvPr id="9" name="组合 8"/>
          <p:cNvGrpSpPr/>
          <p:nvPr/>
        </p:nvGrpSpPr>
        <p:grpSpPr>
          <a:xfrm>
            <a:off x="3039745" y="2079625"/>
            <a:ext cx="2336165" cy="2708910"/>
            <a:chOff x="6046" y="2638"/>
            <a:chExt cx="3679" cy="4266"/>
          </a:xfrm>
        </p:grpSpPr>
        <p:sp>
          <p:nvSpPr>
            <p:cNvPr id="27" name="文本框 26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34" name="直接箭头连接符 33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/>
            <p:cNvCxnSpPr>
              <a:endCxn id="31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/>
            <p:cNvCxnSpPr>
              <a:stCxn id="30" idx="2"/>
              <a:endCxn id="32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箭头连接符 2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文本框 16"/>
          <p:cNvSpPr txBox="1"/>
          <p:nvPr/>
        </p:nvSpPr>
        <p:spPr>
          <a:xfrm>
            <a:off x="3456305" y="1361440"/>
            <a:ext cx="1503680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</a:t>
            </a:r>
            <a:endParaRPr lang="zh-CN" altLang="en-US" sz="1400"/>
          </a:p>
        </p:txBody>
      </p:sp>
      <p:grpSp>
        <p:nvGrpSpPr>
          <p:cNvPr id="18" name="组合 17"/>
          <p:cNvGrpSpPr/>
          <p:nvPr/>
        </p:nvGrpSpPr>
        <p:grpSpPr>
          <a:xfrm>
            <a:off x="6282055" y="2079625"/>
            <a:ext cx="2336165" cy="2708910"/>
            <a:chOff x="6046" y="2638"/>
            <a:chExt cx="3679" cy="4266"/>
          </a:xfrm>
        </p:grpSpPr>
        <p:sp>
          <p:nvSpPr>
            <p:cNvPr id="20" name="文本框 19"/>
            <p:cNvSpPr txBox="1"/>
            <p:nvPr/>
          </p:nvSpPr>
          <p:spPr>
            <a:xfrm>
              <a:off x="6873" y="2638"/>
              <a:ext cx="1940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/>
                <a:t>Program</a:t>
              </a:r>
              <a:endParaRPr lang="en-US" altLang="zh-CN" sz="14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6872" y="3924"/>
              <a:ext cx="1942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......</a:t>
              </a:r>
              <a:endParaRPr lang="en-US" altLang="zh-CN" sz="14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872" y="5173"/>
              <a:ext cx="1943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046" y="6422"/>
              <a:ext cx="1654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altLang="zh-CN" sz="14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137" y="6422"/>
              <a:ext cx="1588" cy="4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ym typeface="+mn-ea"/>
                </a:rPr>
                <a:t>......</a:t>
              </a:r>
              <a:endParaRPr lang="en-US" sz="1400"/>
            </a:p>
          </p:txBody>
        </p:sp>
        <p:cxnSp>
          <p:nvCxnSpPr>
            <p:cNvPr id="26" name="直接箭头连接符 25"/>
            <p:cNvCxnSpPr/>
            <p:nvPr/>
          </p:nvCxnSpPr>
          <p:spPr>
            <a:xfrm>
              <a:off x="7875" y="3121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/>
            <p:cNvCxnSpPr>
              <a:endCxn id="24" idx="0"/>
            </p:cNvCxnSpPr>
            <p:nvPr/>
          </p:nvCxnSpPr>
          <p:spPr>
            <a:xfrm flipH="1">
              <a:off x="6873" y="5656"/>
              <a:ext cx="991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23" idx="2"/>
              <a:endCxn id="25" idx="0"/>
            </p:cNvCxnSpPr>
            <p:nvPr/>
          </p:nvCxnSpPr>
          <p:spPr>
            <a:xfrm>
              <a:off x="7844" y="5656"/>
              <a:ext cx="1087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/>
            <p:nvPr/>
          </p:nvCxnSpPr>
          <p:spPr>
            <a:xfrm>
              <a:off x="7874" y="4407"/>
              <a:ext cx="0" cy="766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文本框 44"/>
          <p:cNvSpPr txBox="1"/>
          <p:nvPr/>
        </p:nvSpPr>
        <p:spPr>
          <a:xfrm>
            <a:off x="6477635" y="1361440"/>
            <a:ext cx="194627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AST </a:t>
            </a:r>
            <a:r>
              <a:rPr lang="zh-CN" altLang="en-US" sz="1400"/>
              <a:t>抽象语法树（新）</a:t>
            </a:r>
            <a:endParaRPr lang="en-US" altLang="zh-CN" sz="1400"/>
          </a:p>
        </p:txBody>
      </p:sp>
      <p:grpSp>
        <p:nvGrpSpPr>
          <p:cNvPr id="48" name="组合 47"/>
          <p:cNvGrpSpPr/>
          <p:nvPr/>
        </p:nvGrpSpPr>
        <p:grpSpPr>
          <a:xfrm>
            <a:off x="8475980" y="3177223"/>
            <a:ext cx="1246505" cy="513715"/>
            <a:chOff x="9642" y="4372"/>
            <a:chExt cx="1963" cy="809"/>
          </a:xfrm>
        </p:grpSpPr>
        <p:sp>
          <p:nvSpPr>
            <p:cNvPr id="49" name="右箭头 48"/>
            <p:cNvSpPr/>
            <p:nvPr/>
          </p:nvSpPr>
          <p:spPr>
            <a:xfrm>
              <a:off x="9642" y="4855"/>
              <a:ext cx="1963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0191" y="4372"/>
              <a:ext cx="86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/>
                <a:t>生成</a:t>
              </a:r>
              <a:endParaRPr lang="zh-CN" altLang="en-US" sz="1400"/>
            </a:p>
          </p:txBody>
        </p:sp>
      </p:grpSp>
      <p:sp>
        <p:nvSpPr>
          <p:cNvPr id="51" name="文本框 50"/>
          <p:cNvSpPr txBox="1"/>
          <p:nvPr/>
        </p:nvSpPr>
        <p:spPr>
          <a:xfrm>
            <a:off x="9865995" y="3111500"/>
            <a:ext cx="15697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/>
              <a:t>const</a:t>
            </a:r>
            <a:r>
              <a:rPr lang="zh-CN" altLang="en-US"/>
              <a:t> a = 2 + 1</a:t>
            </a:r>
            <a:endParaRPr lang="en-US" altLang="zh-CN"/>
          </a:p>
          <a:p>
            <a:r>
              <a:rPr lang="en-US" altLang="zh-CN"/>
              <a:t>console.log(a)</a:t>
            </a:r>
            <a:endParaRPr lang="en-US" altLang="zh-CN"/>
          </a:p>
        </p:txBody>
      </p:sp>
      <p:sp>
        <p:nvSpPr>
          <p:cNvPr id="52" name="文本框 51"/>
          <p:cNvSpPr txBox="1"/>
          <p:nvPr/>
        </p:nvSpPr>
        <p:spPr>
          <a:xfrm>
            <a:off x="10032365" y="1361440"/>
            <a:ext cx="123634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代码（新）</a:t>
            </a:r>
            <a:endParaRPr lang="en-US" altLang="zh-CN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035685" y="1788160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index2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2543175" y="1419860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997450" y="156400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2" name="组合 31"/>
          <p:cNvGrpSpPr/>
          <p:nvPr/>
        </p:nvGrpSpPr>
        <p:grpSpPr>
          <a:xfrm>
            <a:off x="6773545" y="1494473"/>
            <a:ext cx="2014220" cy="644525"/>
            <a:chOff x="10509" y="3307"/>
            <a:chExt cx="3172" cy="1015"/>
          </a:xfrm>
        </p:grpSpPr>
        <p:sp>
          <p:nvSpPr>
            <p:cNvPr id="4" name="右箭头 3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9041765" y="160464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4997450" y="4003675"/>
            <a:ext cx="124460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734560" y="2156460"/>
            <a:ext cx="1771015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project1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959850" y="2219960"/>
            <a:ext cx="145923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r>
              <a:rPr lang="en-US" altLang="zh-CN"/>
              <a:t>.map</a:t>
            </a:r>
            <a:endParaRPr lang="en-US" altLang="zh-CN"/>
          </a:p>
        </p:txBody>
      </p:sp>
      <p:grpSp>
        <p:nvGrpSpPr>
          <p:cNvPr id="14" name="组合 13"/>
          <p:cNvGrpSpPr/>
          <p:nvPr/>
        </p:nvGrpSpPr>
        <p:grpSpPr>
          <a:xfrm rot="19860000">
            <a:off x="6428105" y="2990850"/>
            <a:ext cx="2675890" cy="644525"/>
            <a:chOff x="10509" y="3307"/>
            <a:chExt cx="3172" cy="1015"/>
          </a:xfrm>
        </p:grpSpPr>
        <p:sp>
          <p:nvSpPr>
            <p:cNvPr id="15" name="右箭头 14"/>
            <p:cNvSpPr/>
            <p:nvPr/>
          </p:nvSpPr>
          <p:spPr>
            <a:xfrm>
              <a:off x="10509" y="3996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1547" y="330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cxnSp>
        <p:nvCxnSpPr>
          <p:cNvPr id="18" name="曲线连接符 17"/>
          <p:cNvCxnSpPr/>
          <p:nvPr/>
        </p:nvCxnSpPr>
        <p:spPr>
          <a:xfrm rot="10800000">
            <a:off x="1657350" y="1788160"/>
            <a:ext cx="8761095" cy="612140"/>
          </a:xfrm>
          <a:prstGeom prst="curvedConnector4">
            <a:avLst>
              <a:gd name="adj1" fmla="val -1529"/>
              <a:gd name="adj2" fmla="val 3146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/>
          <p:cNvCxnSpPr>
            <a:stCxn id="10" idx="3"/>
            <a:endCxn id="25" idx="2"/>
          </p:cNvCxnSpPr>
          <p:nvPr/>
        </p:nvCxnSpPr>
        <p:spPr>
          <a:xfrm flipH="1">
            <a:off x="5619750" y="2404110"/>
            <a:ext cx="4799330" cy="1967865"/>
          </a:xfrm>
          <a:prstGeom prst="curvedConnector4">
            <a:avLst>
              <a:gd name="adj1" fmla="val -4962"/>
              <a:gd name="adj2" fmla="val 11210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178550" y="1533525"/>
            <a:ext cx="1244600" cy="64516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/>
              <a:t>生成代码</a:t>
            </a:r>
            <a:endParaRPr lang="en-US" altLang="zh-CN"/>
          </a:p>
          <a:p>
            <a:pPr algn="ctr"/>
            <a:r>
              <a:rPr lang="en-US" altLang="zh-CN"/>
              <a:t>main</a:t>
            </a:r>
            <a:r>
              <a:rPr lang="zh-CN" altLang="en-US"/>
              <a:t>.js</a:t>
            </a:r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3529965" y="194373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生成</a:t>
              </a:r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6178550" y="251714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44</a:t>
            </a:r>
            <a:endParaRPr lang="en-US" altLang="zh-CN"/>
          </a:p>
          <a:p>
            <a:pPr algn="ctr"/>
            <a:r>
              <a:rPr lang="en-US" altLang="zh-CN"/>
              <a:t>eval</a:t>
            </a:r>
            <a:r>
              <a:rPr lang="zh-CN" altLang="en-US"/>
              <a:t>中代码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965325" y="201041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.js</a:t>
            </a:r>
            <a:endParaRPr lang="zh-CN" altLang="en-US"/>
          </a:p>
          <a:p>
            <a:pPr algn="ctr"/>
            <a:r>
              <a:rPr lang="zh-CN" altLang="en-US"/>
              <a:t>源代码</a:t>
            </a:r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3769995" y="4531995"/>
            <a:ext cx="1869440" cy="3683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SoureceMap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63590" y="1331595"/>
            <a:ext cx="1967230" cy="233299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右箭头 14"/>
          <p:cNvSpPr/>
          <p:nvPr/>
        </p:nvSpPr>
        <p:spPr>
          <a:xfrm rot="14160000">
            <a:off x="2308860" y="3444875"/>
            <a:ext cx="201422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 rot="7440000">
            <a:off x="5165725" y="3646805"/>
            <a:ext cx="1495425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080385" y="1939925"/>
            <a:ext cx="2014220" cy="655955"/>
            <a:chOff x="4425" y="3347"/>
            <a:chExt cx="3172" cy="1033"/>
          </a:xfrm>
        </p:grpSpPr>
        <p:sp>
          <p:nvSpPr>
            <p:cNvPr id="7" name="右箭头 6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23" name="文本框 22"/>
          <p:cNvSpPr txBox="1"/>
          <p:nvPr/>
        </p:nvSpPr>
        <p:spPr>
          <a:xfrm>
            <a:off x="1440815" y="200660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scss</a:t>
            </a:r>
            <a:endParaRPr lang="en-US" altLang="zh-CN"/>
          </a:p>
          <a:p>
            <a:pPr algn="ctr"/>
            <a:r>
              <a:rPr lang="en-US" altLang="zh-CN"/>
              <a:t>SCSS</a:t>
            </a:r>
            <a:r>
              <a:rPr lang="zh-CN" altLang="en-US"/>
              <a:t>文件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3042285" y="3081655"/>
            <a:ext cx="2014220" cy="655955"/>
            <a:chOff x="4425" y="3347"/>
            <a:chExt cx="3172" cy="1033"/>
          </a:xfrm>
        </p:grpSpPr>
        <p:sp>
          <p:nvSpPr>
            <p:cNvPr id="4" name="右箭头 3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1402715" y="3148330"/>
            <a:ext cx="1244600" cy="64516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less</a:t>
            </a:r>
            <a:endParaRPr lang="en-US" altLang="zh-CN"/>
          </a:p>
          <a:p>
            <a:pPr algn="ctr"/>
            <a:r>
              <a:rPr lang="en-US" altLang="zh-CN"/>
              <a:t>Less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52196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index</a:t>
            </a:r>
            <a:r>
              <a:rPr lang="zh-CN" altLang="en-US"/>
              <a:t>.</a:t>
            </a:r>
            <a:r>
              <a:rPr lang="en-US" altLang="zh-CN"/>
              <a:t>css</a:t>
            </a:r>
            <a:endParaRPr lang="en-US" altLang="zh-CN"/>
          </a:p>
          <a:p>
            <a:pPr algn="ctr"/>
            <a:r>
              <a:rPr lang="en-US" altLang="zh-CN"/>
              <a:t>CSS</a:t>
            </a:r>
            <a:r>
              <a:rPr lang="zh-CN" altLang="en-US"/>
              <a:t>文件</a:t>
            </a:r>
            <a:endParaRPr lang="zh-CN" altLang="en-US"/>
          </a:p>
          <a:p>
            <a:pPr algn="ctr"/>
            <a:r>
              <a:rPr lang="zh-CN" altLang="en-US"/>
              <a:t>中间产物</a:t>
            </a:r>
            <a:endParaRPr lang="zh-CN" altLang="en-US"/>
          </a:p>
        </p:txBody>
      </p:sp>
      <p:grpSp>
        <p:nvGrpSpPr>
          <p:cNvPr id="11" name="组合 10"/>
          <p:cNvGrpSpPr/>
          <p:nvPr/>
        </p:nvGrpSpPr>
        <p:grpSpPr>
          <a:xfrm>
            <a:off x="7097395" y="2699385"/>
            <a:ext cx="2014220" cy="655955"/>
            <a:chOff x="4425" y="3347"/>
            <a:chExt cx="3172" cy="1033"/>
          </a:xfrm>
        </p:grpSpPr>
        <p:sp>
          <p:nvSpPr>
            <p:cNvPr id="12" name="右箭头 11"/>
            <p:cNvSpPr/>
            <p:nvPr/>
          </p:nvSpPr>
          <p:spPr>
            <a:xfrm>
              <a:off x="4425" y="4054"/>
              <a:ext cx="3172" cy="326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5485" y="3347"/>
              <a:ext cx="105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/>
                <a:t>编译</a:t>
              </a:r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442450" y="2595880"/>
            <a:ext cx="1244600" cy="92202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ym typeface="+mn-ea"/>
              </a:rPr>
              <a:t>index</a:t>
            </a:r>
            <a:r>
              <a:rPr lang="zh-CN" altLang="en-US">
                <a:sym typeface="+mn-ea"/>
              </a:rPr>
              <a:t>.</a:t>
            </a:r>
            <a:r>
              <a:rPr lang="en-US" altLang="zh-CN">
                <a:sym typeface="+mn-ea"/>
              </a:rPr>
              <a:t>css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CSS</a:t>
            </a:r>
            <a:r>
              <a:rPr lang="zh-CN" altLang="en-US">
                <a:sym typeface="+mn-ea"/>
              </a:rPr>
              <a:t>文件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/>
              <a:t>最终产物</a:t>
            </a:r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144270" y="1524635"/>
            <a:ext cx="4145280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247713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预处理器</a:t>
            </a:r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932930" y="1524635"/>
            <a:ext cx="3985895" cy="266636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8265795" y="4502150"/>
            <a:ext cx="1479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CSS</a:t>
            </a:r>
            <a:r>
              <a:rPr lang="zh-CN" altLang="en-US"/>
              <a:t>后处理器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917566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用户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5423535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Agent</a:t>
            </a:r>
            <a:r>
              <a:rPr lang="zh-CN" altLang="en-US" sz="1400" dirty="0"/>
              <a:t>软件</a:t>
            </a:r>
            <a:endParaRPr lang="zh-CN" altLang="en-US" sz="1400" dirty="0"/>
          </a:p>
        </p:txBody>
      </p:sp>
      <p:sp>
        <p:nvSpPr>
          <p:cNvPr id="17" name="右箭头 16"/>
          <p:cNvSpPr/>
          <p:nvPr/>
        </p:nvSpPr>
        <p:spPr>
          <a:xfrm rot="10800000">
            <a:off x="6264566" y="2893213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  <p:sp>
        <p:nvSpPr>
          <p:cNvPr id="18" name="文本框 17"/>
          <p:cNvSpPr txBox="1"/>
          <p:nvPr/>
        </p:nvSpPr>
        <p:spPr>
          <a:xfrm>
            <a:off x="6863224" y="929311"/>
            <a:ext cx="2239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提供能力列表，例如访问网页</a:t>
            </a:r>
            <a:r>
              <a:rPr lang="en-US" altLang="zh-CN" sz="1200" dirty="0"/>
              <a:t>/</a:t>
            </a:r>
            <a:r>
              <a:rPr lang="zh-CN" altLang="en-US" sz="1200" dirty="0"/>
              <a:t>编辑文件</a:t>
            </a:r>
            <a:r>
              <a:rPr lang="en-US" altLang="zh-CN" sz="1200" dirty="0"/>
              <a:t>/</a:t>
            </a:r>
            <a:r>
              <a:rPr lang="zh-CN" altLang="en-US" sz="1200" dirty="0"/>
              <a:t>执行命令等</a:t>
            </a:r>
            <a:endParaRPr lang="zh-CN" altLang="en-US" sz="12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2380798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106477" y="934720"/>
            <a:ext cx="0" cy="43383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4985594" y="3209938"/>
            <a:ext cx="875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访问网页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5474887" y="3290069"/>
            <a:ext cx="75157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2538911" y="2120308"/>
            <a:ext cx="3367219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449072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大模型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6264565" y="1347341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3344166" y="1837882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用户要求完成某个任务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7172579" y="1822235"/>
            <a:ext cx="1620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将要求转发给大模型</a:t>
            </a:r>
            <a:endParaRPr lang="zh-CN" altLang="en-US" sz="1200" dirty="0"/>
          </a:p>
        </p:txBody>
      </p:sp>
      <p:sp>
        <p:nvSpPr>
          <p:cNvPr id="19" name="文本框 18"/>
          <p:cNvSpPr txBox="1"/>
          <p:nvPr/>
        </p:nvSpPr>
        <p:spPr>
          <a:xfrm>
            <a:off x="6512277" y="2622788"/>
            <a:ext cx="2941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要求</a:t>
            </a:r>
            <a:r>
              <a:rPr lang="en-US" altLang="zh-CN" sz="1200" dirty="0"/>
              <a:t>Agent</a:t>
            </a:r>
            <a:r>
              <a:rPr lang="zh-CN" altLang="en-US" sz="1200" dirty="0"/>
              <a:t>调用某些能力，例如访问网页</a:t>
            </a:r>
            <a:endParaRPr lang="zh-CN" altLang="en-US" sz="1200" dirty="0"/>
          </a:p>
        </p:txBody>
      </p:sp>
      <p:sp>
        <p:nvSpPr>
          <p:cNvPr id="20" name="文本框 19"/>
          <p:cNvSpPr txBox="1"/>
          <p:nvPr/>
        </p:nvSpPr>
        <p:spPr>
          <a:xfrm>
            <a:off x="10173335" y="2466547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22" name="右箭头 26"/>
          <p:cNvSpPr/>
          <p:nvPr/>
        </p:nvSpPr>
        <p:spPr>
          <a:xfrm rot="5400000">
            <a:off x="9783336" y="2543740"/>
            <a:ext cx="64758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8" name="文本框 27"/>
          <p:cNvSpPr txBox="1"/>
          <p:nvPr/>
        </p:nvSpPr>
        <p:spPr>
          <a:xfrm>
            <a:off x="7108955" y="3380695"/>
            <a:ext cx="1785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网页内容返回给大模型</a:t>
            </a:r>
            <a:endParaRPr lang="zh-CN" altLang="en-US" sz="1200" dirty="0"/>
          </a:p>
        </p:txBody>
      </p:sp>
      <p:sp>
        <p:nvSpPr>
          <p:cNvPr id="30" name="文本框 29"/>
          <p:cNvSpPr txBox="1"/>
          <p:nvPr/>
        </p:nvSpPr>
        <p:spPr>
          <a:xfrm>
            <a:off x="10207943" y="4020511"/>
            <a:ext cx="641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思考</a:t>
            </a:r>
            <a:endParaRPr lang="zh-CN" altLang="en-US" sz="1200" dirty="0"/>
          </a:p>
        </p:txBody>
      </p:sp>
      <p:sp>
        <p:nvSpPr>
          <p:cNvPr id="44" name="右箭头 26"/>
          <p:cNvSpPr/>
          <p:nvPr/>
        </p:nvSpPr>
        <p:spPr>
          <a:xfrm rot="5400000">
            <a:off x="9707813" y="4105940"/>
            <a:ext cx="770158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7" name="文本框 56"/>
          <p:cNvSpPr txBox="1"/>
          <p:nvPr/>
        </p:nvSpPr>
        <p:spPr>
          <a:xfrm>
            <a:off x="7332785" y="4281338"/>
            <a:ext cx="1201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给出最后结果</a:t>
            </a:r>
            <a:endParaRPr lang="zh-CN" altLang="en-US" sz="1200" dirty="0"/>
          </a:p>
        </p:txBody>
      </p:sp>
      <p:sp>
        <p:nvSpPr>
          <p:cNvPr id="59" name="右箭头 16"/>
          <p:cNvSpPr/>
          <p:nvPr/>
        </p:nvSpPr>
        <p:spPr>
          <a:xfrm rot="10800000">
            <a:off x="2533095" y="4531122"/>
            <a:ext cx="3388360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60" name="文本框 59"/>
          <p:cNvSpPr txBox="1"/>
          <p:nvPr/>
        </p:nvSpPr>
        <p:spPr>
          <a:xfrm>
            <a:off x="3607106" y="4281338"/>
            <a:ext cx="1410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返回结果给用户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6264565" y="2116444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6" name="右箭头 3"/>
          <p:cNvSpPr/>
          <p:nvPr/>
        </p:nvSpPr>
        <p:spPr>
          <a:xfrm>
            <a:off x="6264565" y="3647315"/>
            <a:ext cx="3436764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77" name="右箭头 16"/>
          <p:cNvSpPr/>
          <p:nvPr/>
        </p:nvSpPr>
        <p:spPr>
          <a:xfrm rot="10800000">
            <a:off x="6264566" y="4531122"/>
            <a:ext cx="3436762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839880" y="489267"/>
            <a:ext cx="92646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开发者</a:t>
            </a:r>
            <a:endParaRPr lang="zh-CN" altLang="en-US" sz="1400" dirty="0"/>
          </a:p>
        </p:txBody>
      </p:sp>
      <p:sp>
        <p:nvSpPr>
          <p:cNvPr id="15" name="文本框 14"/>
          <p:cNvSpPr txBox="1"/>
          <p:nvPr/>
        </p:nvSpPr>
        <p:spPr>
          <a:xfrm>
            <a:off x="3962211" y="479696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本地服务</a:t>
            </a:r>
            <a:endParaRPr lang="zh-CN" altLang="en-US" sz="1400" dirty="0"/>
          </a:p>
        </p:txBody>
      </p:sp>
      <p:cxnSp>
        <p:nvCxnSpPr>
          <p:cNvPr id="2" name="直接连接符 1"/>
          <p:cNvCxnSpPr/>
          <p:nvPr/>
        </p:nvCxnSpPr>
        <p:spPr>
          <a:xfrm>
            <a:off x="1303112" y="934720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4645153" y="925149"/>
            <a:ext cx="0" cy="5493294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2845478" y="1574747"/>
            <a:ext cx="1647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打包代码，生成结果启动本地服务</a:t>
            </a:r>
            <a:endParaRPr lang="zh-CN" altLang="en-US" sz="1200" dirty="0"/>
          </a:p>
        </p:txBody>
      </p:sp>
      <p:sp>
        <p:nvSpPr>
          <p:cNvPr id="27" name="右箭头 26"/>
          <p:cNvSpPr/>
          <p:nvPr/>
        </p:nvSpPr>
        <p:spPr>
          <a:xfrm rot="5400000">
            <a:off x="4067470" y="1697464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4" name="右箭头 3"/>
          <p:cNvSpPr/>
          <p:nvPr/>
        </p:nvSpPr>
        <p:spPr>
          <a:xfrm>
            <a:off x="1498893" y="1068343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" name="直接连接符 6"/>
          <p:cNvCxnSpPr/>
          <p:nvPr/>
        </p:nvCxnSpPr>
        <p:spPr>
          <a:xfrm>
            <a:off x="9897110" y="934720"/>
            <a:ext cx="0" cy="5564051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9214168" y="489267"/>
            <a:ext cx="1365885" cy="30670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浏览器端</a:t>
            </a:r>
            <a:endParaRPr lang="zh-CN" altLang="en-US" sz="1400" dirty="0"/>
          </a:p>
        </p:txBody>
      </p:sp>
      <p:sp>
        <p:nvSpPr>
          <p:cNvPr id="9" name="右箭头 3"/>
          <p:cNvSpPr/>
          <p:nvPr/>
        </p:nvSpPr>
        <p:spPr>
          <a:xfrm>
            <a:off x="4806497" y="1991146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10" name="文本框 9"/>
          <p:cNvSpPr txBox="1"/>
          <p:nvPr/>
        </p:nvSpPr>
        <p:spPr>
          <a:xfrm>
            <a:off x="2062088" y="806266"/>
            <a:ext cx="1733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以</a:t>
            </a:r>
            <a:r>
              <a:rPr lang="en-US" altLang="zh-CN" sz="1200" dirty="0"/>
              <a:t>watch</a:t>
            </a:r>
            <a:r>
              <a:rPr lang="zh-CN" altLang="en-US" sz="1200" dirty="0"/>
              <a:t>模式启动服务</a:t>
            </a:r>
            <a:endParaRPr lang="zh-CN" altLang="en-US" sz="1200" dirty="0"/>
          </a:p>
        </p:txBody>
      </p:sp>
      <p:sp>
        <p:nvSpPr>
          <p:cNvPr id="16" name="文本框 15"/>
          <p:cNvSpPr txBox="1"/>
          <p:nvPr/>
        </p:nvSpPr>
        <p:spPr>
          <a:xfrm>
            <a:off x="6457302" y="2999073"/>
            <a:ext cx="1560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通知代码存在更新</a:t>
            </a:r>
            <a:endParaRPr lang="zh-CN" altLang="en-US" sz="1200" dirty="0"/>
          </a:p>
        </p:txBody>
      </p:sp>
      <p:sp>
        <p:nvSpPr>
          <p:cNvPr id="60" name="文本框 59"/>
          <p:cNvSpPr txBox="1"/>
          <p:nvPr/>
        </p:nvSpPr>
        <p:spPr>
          <a:xfrm>
            <a:off x="4631684" y="1664522"/>
            <a:ext cx="52118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浏览器请求页面，服务返回打包后文件 </a:t>
            </a:r>
            <a:r>
              <a:rPr lang="en-US" altLang="zh-CN" sz="1200" dirty="0"/>
              <a:t>+ runtime</a:t>
            </a:r>
            <a:r>
              <a:rPr lang="zh-CN" altLang="en-US" sz="1200" dirty="0"/>
              <a:t>代码，建立</a:t>
            </a:r>
            <a:r>
              <a:rPr lang="en-US" altLang="zh-CN" sz="1200" dirty="0"/>
              <a:t>WebSocket</a:t>
            </a:r>
            <a:r>
              <a:rPr lang="zh-CN" altLang="en-US" sz="1200" dirty="0"/>
              <a:t>连接</a:t>
            </a:r>
            <a:endParaRPr lang="zh-CN" altLang="en-US" sz="1200" dirty="0"/>
          </a:p>
        </p:txBody>
      </p:sp>
      <p:sp>
        <p:nvSpPr>
          <p:cNvPr id="75" name="右箭头 3"/>
          <p:cNvSpPr/>
          <p:nvPr/>
        </p:nvSpPr>
        <p:spPr>
          <a:xfrm>
            <a:off x="4806498" y="3253180"/>
            <a:ext cx="4862187" cy="2070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1" name="右箭头 3"/>
          <p:cNvSpPr/>
          <p:nvPr/>
        </p:nvSpPr>
        <p:spPr>
          <a:xfrm>
            <a:off x="1498892" y="2609532"/>
            <a:ext cx="2993961" cy="2191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24" name="文本框 23"/>
          <p:cNvSpPr txBox="1"/>
          <p:nvPr/>
        </p:nvSpPr>
        <p:spPr>
          <a:xfrm>
            <a:off x="2539045" y="2315098"/>
            <a:ext cx="8646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修改源码</a:t>
            </a:r>
            <a:endParaRPr lang="zh-CN" altLang="en-US" sz="1200" dirty="0"/>
          </a:p>
        </p:txBody>
      </p:sp>
      <p:sp>
        <p:nvSpPr>
          <p:cNvPr id="26" name="文本框 25"/>
          <p:cNvSpPr txBox="1"/>
          <p:nvPr/>
        </p:nvSpPr>
        <p:spPr>
          <a:xfrm>
            <a:off x="3304014" y="3025011"/>
            <a:ext cx="1188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重新打包代码</a:t>
            </a:r>
            <a:endParaRPr lang="zh-CN" altLang="en-US" sz="12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4232687" y="3072292"/>
            <a:ext cx="530982" cy="18243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/>
          <p:cNvSpPr txBox="1"/>
          <p:nvPr/>
        </p:nvSpPr>
        <p:spPr>
          <a:xfrm>
            <a:off x="5455038" y="3634258"/>
            <a:ext cx="3565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浏览器请求</a:t>
            </a:r>
            <a:r>
              <a:rPr lang="en-US" altLang="zh-CN" sz="1200" dirty="0"/>
              <a:t>xxx.hot-update.json</a:t>
            </a:r>
            <a:r>
              <a:rPr lang="zh-CN" altLang="en-US" sz="1200" dirty="0"/>
              <a:t>，服务返回更新清单</a:t>
            </a:r>
            <a:endParaRPr lang="zh-CN" altLang="en-US" sz="1200" dirty="0"/>
          </a:p>
        </p:txBody>
      </p:sp>
      <p:sp>
        <p:nvSpPr>
          <p:cNvPr id="33" name="右箭头 3"/>
          <p:cNvSpPr/>
          <p:nvPr/>
        </p:nvSpPr>
        <p:spPr>
          <a:xfrm>
            <a:off x="4806497" y="3967190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4" name="文本框 33"/>
          <p:cNvSpPr txBox="1"/>
          <p:nvPr/>
        </p:nvSpPr>
        <p:spPr>
          <a:xfrm>
            <a:off x="5327439" y="4362324"/>
            <a:ext cx="38873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浏览器批量请求新模块文件</a:t>
            </a:r>
            <a:r>
              <a:rPr lang="en-US" altLang="zh-CN" sz="1200"/>
              <a:t>xxx.</a:t>
            </a:r>
            <a:r>
              <a:rPr lang="en-US" altLang="zh-CN" sz="1200" dirty="0"/>
              <a:t>hot-update.js</a:t>
            </a:r>
            <a:r>
              <a:rPr lang="zh-CN" altLang="en-US" sz="1200" dirty="0"/>
              <a:t>，服务返回</a:t>
            </a:r>
            <a:endParaRPr lang="zh-CN" altLang="en-US" sz="1200" dirty="0"/>
          </a:p>
        </p:txBody>
      </p:sp>
      <p:sp>
        <p:nvSpPr>
          <p:cNvPr id="35" name="右箭头 3"/>
          <p:cNvSpPr/>
          <p:nvPr/>
        </p:nvSpPr>
        <p:spPr>
          <a:xfrm>
            <a:off x="4806497" y="4639323"/>
            <a:ext cx="4862189" cy="207010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6" name="右箭头 26"/>
          <p:cNvSpPr/>
          <p:nvPr/>
        </p:nvSpPr>
        <p:spPr>
          <a:xfrm rot="5400000">
            <a:off x="9678700" y="5061151"/>
            <a:ext cx="810100" cy="17345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7" name="文本框 36"/>
          <p:cNvSpPr txBox="1"/>
          <p:nvPr/>
        </p:nvSpPr>
        <p:spPr>
          <a:xfrm>
            <a:off x="10170478" y="4917045"/>
            <a:ext cx="1188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使用模块冒泡方式更新代码</a:t>
            </a:r>
            <a:endParaRPr lang="en-US" altLang="zh-CN" sz="1200" dirty="0"/>
          </a:p>
        </p:txBody>
      </p:sp>
      <p:sp>
        <p:nvSpPr>
          <p:cNvPr id="41" name="文本框 40"/>
          <p:cNvSpPr txBox="1"/>
          <p:nvPr/>
        </p:nvSpPr>
        <p:spPr>
          <a:xfrm>
            <a:off x="9938387" y="5713584"/>
            <a:ext cx="1743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最终呈现更新后的效果</a:t>
            </a:r>
            <a:endParaRPr lang="en-US" alt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814830" y="60515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用户输入的问题文本</a:t>
            </a:r>
            <a:endParaRPr lang="zh-CN" altLang="en-US" sz="1200" dirty="0"/>
          </a:p>
        </p:txBody>
      </p:sp>
      <p:sp>
        <p:nvSpPr>
          <p:cNvPr id="10" name="文本框 9"/>
          <p:cNvSpPr txBox="1"/>
          <p:nvPr/>
        </p:nvSpPr>
        <p:spPr>
          <a:xfrm>
            <a:off x="2915920" y="1009015"/>
            <a:ext cx="1208405" cy="241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29" name="右箭头 26"/>
          <p:cNvSpPr/>
          <p:nvPr/>
        </p:nvSpPr>
        <p:spPr>
          <a:xfrm rot="5400000">
            <a:off x="2604135" y="103505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6" name="文本框 45"/>
          <p:cNvSpPr txBox="1"/>
          <p:nvPr/>
        </p:nvSpPr>
        <p:spPr>
          <a:xfrm>
            <a:off x="163512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大模型推理</a:t>
            </a:r>
            <a:r>
              <a:rPr lang="zh-CN" altLang="en-US" sz="1400"/>
              <a:t>过程</a:t>
            </a:r>
            <a:endParaRPr lang="zh-CN" altLang="en-US" sz="1400"/>
          </a:p>
        </p:txBody>
      </p:sp>
      <p:sp>
        <p:nvSpPr>
          <p:cNvPr id="11" name="文本框 10"/>
          <p:cNvSpPr txBox="1"/>
          <p:nvPr/>
        </p:nvSpPr>
        <p:spPr>
          <a:xfrm>
            <a:off x="2096770" y="1392555"/>
            <a:ext cx="1370330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832928" y="2191385"/>
            <a:ext cx="189801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对应的向量</a:t>
            </a:r>
            <a:r>
              <a:rPr lang="zh-CN" altLang="en-US" sz="1200" dirty="0">
                <a:sym typeface="+mn-ea"/>
              </a:rPr>
              <a:t>序列</a:t>
            </a:r>
            <a:endParaRPr lang="en-US" altLang="zh-CN" sz="1200" dirty="0"/>
          </a:p>
        </p:txBody>
      </p:sp>
      <p:sp>
        <p:nvSpPr>
          <p:cNvPr id="13" name="右箭头 26"/>
          <p:cNvSpPr/>
          <p:nvPr/>
        </p:nvSpPr>
        <p:spPr>
          <a:xfrm rot="5400000">
            <a:off x="2618105" y="1855470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" name="文本框 13"/>
          <p:cNvSpPr txBox="1"/>
          <p:nvPr/>
        </p:nvSpPr>
        <p:spPr>
          <a:xfrm>
            <a:off x="2915920" y="17405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8" name="文本框 17"/>
          <p:cNvSpPr txBox="1"/>
          <p:nvPr/>
        </p:nvSpPr>
        <p:spPr>
          <a:xfrm>
            <a:off x="2122488" y="2903220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9" name="右箭头 26"/>
          <p:cNvSpPr/>
          <p:nvPr/>
        </p:nvSpPr>
        <p:spPr>
          <a:xfrm rot="5400000">
            <a:off x="2638743" y="2599690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2123758" y="4361815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23" name="文本框 22"/>
          <p:cNvSpPr txBox="1"/>
          <p:nvPr/>
        </p:nvSpPr>
        <p:spPr>
          <a:xfrm>
            <a:off x="2927985" y="25615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en-US" altLang="zh-CN" sz="1000" dirty="0"/>
          </a:p>
        </p:txBody>
      </p:sp>
      <p:sp>
        <p:nvSpPr>
          <p:cNvPr id="30" name="文本框 29"/>
          <p:cNvSpPr txBox="1"/>
          <p:nvPr/>
        </p:nvSpPr>
        <p:spPr>
          <a:xfrm>
            <a:off x="2124075" y="3573145"/>
            <a:ext cx="1315720" cy="2813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38" name="右箭头 26"/>
          <p:cNvSpPr/>
          <p:nvPr/>
        </p:nvSpPr>
        <p:spPr>
          <a:xfrm rot="5400000">
            <a:off x="2653030" y="3304540"/>
            <a:ext cx="257810" cy="1568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39" name="文本框 38"/>
          <p:cNvSpPr txBox="1"/>
          <p:nvPr/>
        </p:nvSpPr>
        <p:spPr>
          <a:xfrm>
            <a:off x="2927985" y="323469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0" name="文本框 39"/>
          <p:cNvSpPr txBox="1"/>
          <p:nvPr/>
        </p:nvSpPr>
        <p:spPr>
          <a:xfrm>
            <a:off x="2007553" y="5080635"/>
            <a:ext cx="154876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得到下一个</a:t>
            </a:r>
            <a:r>
              <a:rPr lang="en-US" altLang="zh-CN" sz="1200" dirty="0"/>
              <a:t>token</a:t>
            </a:r>
            <a:endParaRPr lang="zh-CN" altLang="en-US" sz="1200" dirty="0"/>
          </a:p>
        </p:txBody>
      </p:sp>
      <p:sp>
        <p:nvSpPr>
          <p:cNvPr id="42" name="右箭头 26"/>
          <p:cNvSpPr/>
          <p:nvPr/>
        </p:nvSpPr>
        <p:spPr>
          <a:xfrm rot="5400000">
            <a:off x="2653348" y="4074160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43" name="文本框 42"/>
          <p:cNvSpPr txBox="1"/>
          <p:nvPr/>
        </p:nvSpPr>
        <p:spPr>
          <a:xfrm>
            <a:off x="2927985" y="3975100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45" name="文本框 44"/>
          <p:cNvSpPr txBox="1"/>
          <p:nvPr/>
        </p:nvSpPr>
        <p:spPr>
          <a:xfrm>
            <a:off x="2590165" y="3790315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49" name="右箭头 26"/>
          <p:cNvSpPr/>
          <p:nvPr/>
        </p:nvSpPr>
        <p:spPr>
          <a:xfrm rot="5400000">
            <a:off x="2633345" y="47942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0" name="文本框 49"/>
          <p:cNvSpPr txBox="1"/>
          <p:nvPr/>
        </p:nvSpPr>
        <p:spPr>
          <a:xfrm>
            <a:off x="2927985" y="477139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53" name="手杖形箭头 52"/>
          <p:cNvSpPr/>
          <p:nvPr/>
        </p:nvSpPr>
        <p:spPr>
          <a:xfrm rot="5400000" flipH="1">
            <a:off x="2081530" y="2983865"/>
            <a:ext cx="3802380" cy="752475"/>
          </a:xfrm>
          <a:prstGeom prst="uturnArrow">
            <a:avLst>
              <a:gd name="adj1" fmla="val 9163"/>
              <a:gd name="adj2" fmla="val 8520"/>
              <a:gd name="adj3" fmla="val 13933"/>
              <a:gd name="adj4" fmla="val 44480"/>
              <a:gd name="adj5" fmla="val 10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446905" y="2717800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  <p:sp>
        <p:nvSpPr>
          <p:cNvPr id="55" name="右箭头 26"/>
          <p:cNvSpPr/>
          <p:nvPr/>
        </p:nvSpPr>
        <p:spPr>
          <a:xfrm rot="5400000">
            <a:off x="2633345" y="545465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6" name="文本框 55"/>
          <p:cNvSpPr txBox="1"/>
          <p:nvPr/>
        </p:nvSpPr>
        <p:spPr>
          <a:xfrm>
            <a:off x="2915920" y="543179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57" name="文本框 56"/>
          <p:cNvSpPr txBox="1"/>
          <p:nvPr/>
        </p:nvSpPr>
        <p:spPr>
          <a:xfrm>
            <a:off x="2265680" y="575183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token</a:t>
            </a:r>
            <a:r>
              <a:rPr lang="zh-CN" altLang="en-US" sz="1200" dirty="0"/>
              <a:t>序列</a:t>
            </a:r>
            <a:endParaRPr lang="zh-CN" altLang="en-US" sz="1200" dirty="0"/>
          </a:p>
        </p:txBody>
      </p:sp>
      <p:sp>
        <p:nvSpPr>
          <p:cNvPr id="58" name="文本框 57"/>
          <p:cNvSpPr txBox="1"/>
          <p:nvPr/>
        </p:nvSpPr>
        <p:spPr>
          <a:xfrm>
            <a:off x="2265680" y="6390640"/>
            <a:ext cx="1032510" cy="2533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答案文本</a:t>
            </a:r>
            <a:endParaRPr lang="zh-CN" altLang="en-US" sz="1200" dirty="0"/>
          </a:p>
        </p:txBody>
      </p:sp>
      <p:sp>
        <p:nvSpPr>
          <p:cNvPr id="59" name="右箭头 26"/>
          <p:cNvSpPr/>
          <p:nvPr/>
        </p:nvSpPr>
        <p:spPr>
          <a:xfrm rot="5400000">
            <a:off x="2633345" y="611124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61" name="文本框 60"/>
          <p:cNvSpPr txBox="1"/>
          <p:nvPr/>
        </p:nvSpPr>
        <p:spPr>
          <a:xfrm>
            <a:off x="2915920" y="606171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21" name="文本框 120"/>
          <p:cNvSpPr txBox="1"/>
          <p:nvPr/>
        </p:nvSpPr>
        <p:spPr>
          <a:xfrm>
            <a:off x="6680835" y="606425"/>
            <a:ext cx="1934210" cy="264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今天天气如何</a:t>
            </a:r>
            <a:endParaRPr lang="zh-CN" altLang="en-US" sz="1200" dirty="0"/>
          </a:p>
        </p:txBody>
      </p:sp>
      <p:sp>
        <p:nvSpPr>
          <p:cNvPr id="122" name="文本框 121"/>
          <p:cNvSpPr txBox="1"/>
          <p:nvPr/>
        </p:nvSpPr>
        <p:spPr>
          <a:xfrm>
            <a:off x="7795260" y="1003300"/>
            <a:ext cx="1208405" cy="2882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用分词器切分</a:t>
            </a:r>
            <a:endParaRPr lang="zh-CN" altLang="en-US" sz="1000" dirty="0"/>
          </a:p>
        </p:txBody>
      </p:sp>
      <p:sp>
        <p:nvSpPr>
          <p:cNvPr id="123" name="右箭头 26"/>
          <p:cNvSpPr/>
          <p:nvPr/>
        </p:nvSpPr>
        <p:spPr>
          <a:xfrm rot="5400000">
            <a:off x="7470140" y="1036320"/>
            <a:ext cx="355600" cy="18224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4" name="文本框 123"/>
          <p:cNvSpPr txBox="1"/>
          <p:nvPr/>
        </p:nvSpPr>
        <p:spPr>
          <a:xfrm>
            <a:off x="6501765" y="114300"/>
            <a:ext cx="2293620" cy="30670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/>
              <a:t>推理数据</a:t>
            </a:r>
            <a:r>
              <a:rPr lang="zh-CN" altLang="en-US" sz="1400"/>
              <a:t>示例</a:t>
            </a:r>
            <a:endParaRPr lang="zh-CN" altLang="en-US" sz="1400"/>
          </a:p>
        </p:txBody>
      </p:sp>
      <p:sp>
        <p:nvSpPr>
          <p:cNvPr id="125" name="文本框 124"/>
          <p:cNvSpPr txBox="1"/>
          <p:nvPr/>
        </p:nvSpPr>
        <p:spPr>
          <a:xfrm>
            <a:off x="6183630" y="1376680"/>
            <a:ext cx="2928620" cy="4749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今天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天气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如何</a:t>
            </a:r>
            <a:endParaRPr lang="zh-CN" altLang="en-US" sz="1200" dirty="0">
              <a:sym typeface="+mn-ea"/>
            </a:endParaRPr>
          </a:p>
          <a:p>
            <a:pPr algn="ctr"/>
            <a:r>
              <a:rPr lang="zh-CN" altLang="en-US" sz="1200" dirty="0">
                <a:sym typeface="+mn-ea"/>
              </a:rPr>
              <a:t>实际为</a:t>
            </a:r>
            <a:r>
              <a:rPr lang="en-US" altLang="zh-CN" sz="1200" dirty="0">
                <a:sym typeface="+mn-ea"/>
              </a:rPr>
              <a:t>tokenId </a:t>
            </a:r>
            <a:r>
              <a:rPr lang="zh-CN" altLang="en-US" sz="1200" dirty="0">
                <a:sym typeface="+mn-ea"/>
              </a:rPr>
              <a:t>例如</a:t>
            </a:r>
            <a:r>
              <a:rPr lang="en-US" altLang="zh-CN" sz="1200" dirty="0">
                <a:sym typeface="+mn-ea"/>
              </a:rPr>
              <a:t> 15 / 1526 / 45987</a:t>
            </a:r>
            <a:endParaRPr lang="zh-CN" altLang="en-US" sz="1200" dirty="0">
              <a:sym typeface="+mn-ea"/>
            </a:endParaRPr>
          </a:p>
        </p:txBody>
      </p:sp>
      <p:sp>
        <p:nvSpPr>
          <p:cNvPr id="126" name="文本框 125"/>
          <p:cNvSpPr txBox="1"/>
          <p:nvPr/>
        </p:nvSpPr>
        <p:spPr>
          <a:xfrm>
            <a:off x="6624003" y="2346960"/>
            <a:ext cx="2047875" cy="8585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dirty="0"/>
              <a:t>[12, 45, 2.54, ....],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[87, 1.26, 74.54, ....], </a:t>
            </a:r>
            <a:r>
              <a:rPr lang="en-US" altLang="zh-CN" sz="1200" dirty="0"/>
              <a:t> </a:t>
            </a:r>
            <a:endParaRPr lang="en-US" altLang="zh-CN" sz="1200" dirty="0"/>
          </a:p>
          <a:p>
            <a:pPr algn="ctr"/>
            <a:r>
              <a:rPr lang="en-US" altLang="zh-CN" sz="1200" dirty="0">
                <a:sym typeface="+mn-ea"/>
              </a:rPr>
              <a:t>[154, 20, 5.54, ....], </a:t>
            </a:r>
            <a:endParaRPr lang="en-US" altLang="zh-CN" sz="1200" dirty="0">
              <a:sym typeface="+mn-ea"/>
            </a:endParaRPr>
          </a:p>
          <a:p>
            <a:pPr algn="ctr"/>
            <a:r>
              <a:rPr lang="en-US" altLang="zh-CN" sz="1200" dirty="0">
                <a:sym typeface="+mn-ea"/>
              </a:rPr>
              <a:t>...   </a:t>
            </a:r>
            <a:r>
              <a:rPr lang="zh-CN" altLang="en-US" sz="1200" dirty="0">
                <a:sym typeface="+mn-ea"/>
              </a:rPr>
              <a:t>每个向量</a:t>
            </a:r>
            <a:r>
              <a:rPr lang="en-US" altLang="zh-CN" sz="1200" dirty="0">
                <a:sym typeface="+mn-ea"/>
              </a:rPr>
              <a:t>1024</a:t>
            </a:r>
            <a:r>
              <a:rPr lang="zh-CN" altLang="en-US" sz="1200" dirty="0">
                <a:sym typeface="+mn-ea"/>
              </a:rPr>
              <a:t>维</a:t>
            </a:r>
            <a:endParaRPr lang="en-US" altLang="zh-CN" sz="1200" dirty="0">
              <a:sym typeface="+mn-ea"/>
            </a:endParaRPr>
          </a:p>
          <a:p>
            <a:pPr algn="ctr"/>
            <a:endParaRPr lang="en-US" altLang="zh-CN" sz="1200" dirty="0"/>
          </a:p>
        </p:txBody>
      </p:sp>
      <p:sp>
        <p:nvSpPr>
          <p:cNvPr id="127" name="右箭头 26"/>
          <p:cNvSpPr/>
          <p:nvPr/>
        </p:nvSpPr>
        <p:spPr>
          <a:xfrm rot="5400000">
            <a:off x="7484110" y="2011045"/>
            <a:ext cx="3276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9" name="文本框 128"/>
          <p:cNvSpPr txBox="1"/>
          <p:nvPr/>
        </p:nvSpPr>
        <p:spPr>
          <a:xfrm>
            <a:off x="6988493" y="3615055"/>
            <a:ext cx="1318895" cy="2755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1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0" name="右箭头 26"/>
          <p:cNvSpPr/>
          <p:nvPr/>
        </p:nvSpPr>
        <p:spPr>
          <a:xfrm rot="5400000">
            <a:off x="7504748" y="3334385"/>
            <a:ext cx="286385" cy="1708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1" name="文本框 130"/>
          <p:cNvSpPr txBox="1"/>
          <p:nvPr/>
        </p:nvSpPr>
        <p:spPr>
          <a:xfrm>
            <a:off x="6989763" y="4404360"/>
            <a:ext cx="1316355" cy="2876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模型第</a:t>
            </a:r>
            <a:r>
              <a:rPr lang="en-US" altLang="zh-CN" sz="1200" dirty="0"/>
              <a:t>28</a:t>
            </a:r>
            <a:r>
              <a:rPr lang="zh-CN" altLang="en-US" sz="1200" dirty="0"/>
              <a:t>层</a:t>
            </a:r>
            <a:endParaRPr lang="zh-CN" altLang="en-US" sz="1200" dirty="0"/>
          </a:p>
        </p:txBody>
      </p:sp>
      <p:sp>
        <p:nvSpPr>
          <p:cNvPr id="136" name="文本框 135"/>
          <p:cNvSpPr txBox="1"/>
          <p:nvPr/>
        </p:nvSpPr>
        <p:spPr>
          <a:xfrm>
            <a:off x="6620193" y="5083810"/>
            <a:ext cx="2055495" cy="2578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/>
              <a:t>气温</a:t>
            </a:r>
            <a:r>
              <a:rPr lang="zh-CN" altLang="en-US" sz="1200" dirty="0">
                <a:sym typeface="+mn-ea"/>
              </a:rPr>
              <a:t>（</a:t>
            </a:r>
            <a:r>
              <a:rPr lang="en-US" altLang="zh-CN" sz="1200" dirty="0">
                <a:sym typeface="+mn-ea"/>
              </a:rPr>
              <a:t>tokenId</a:t>
            </a:r>
            <a:r>
              <a:rPr lang="zh-CN" altLang="en-US" sz="1200" dirty="0">
                <a:sym typeface="+mn-ea"/>
              </a:rPr>
              <a:t>，例如</a:t>
            </a:r>
            <a:r>
              <a:rPr lang="en-US" altLang="zh-CN" sz="1200" dirty="0">
                <a:sym typeface="+mn-ea"/>
              </a:rPr>
              <a:t> 45</a:t>
            </a:r>
            <a:r>
              <a:rPr lang="zh-CN" altLang="en-US" sz="1200" dirty="0">
                <a:sym typeface="+mn-ea"/>
              </a:rPr>
              <a:t>）</a:t>
            </a:r>
            <a:endParaRPr lang="zh-CN" altLang="en-US" sz="1200" dirty="0">
              <a:sym typeface="+mn-ea"/>
            </a:endParaRPr>
          </a:p>
          <a:p>
            <a:pPr algn="ctr"/>
            <a:endParaRPr lang="zh-CN" altLang="en-US" sz="1200" dirty="0"/>
          </a:p>
        </p:txBody>
      </p:sp>
      <p:sp>
        <p:nvSpPr>
          <p:cNvPr id="137" name="右箭头 26"/>
          <p:cNvSpPr/>
          <p:nvPr/>
        </p:nvSpPr>
        <p:spPr>
          <a:xfrm rot="5400000">
            <a:off x="7519353" y="4116705"/>
            <a:ext cx="257175" cy="15811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8" name="文本框 137"/>
          <p:cNvSpPr txBox="1"/>
          <p:nvPr/>
        </p:nvSpPr>
        <p:spPr>
          <a:xfrm>
            <a:off x="7795260" y="4017645"/>
            <a:ext cx="1397635" cy="269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依次通过所有层</a:t>
            </a:r>
            <a:r>
              <a:rPr lang="en-US" altLang="zh-CN" sz="1000" dirty="0"/>
              <a:t> </a:t>
            </a:r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39" name="文本框 138"/>
          <p:cNvSpPr txBox="1"/>
          <p:nvPr/>
        </p:nvSpPr>
        <p:spPr>
          <a:xfrm>
            <a:off x="7456170" y="3832860"/>
            <a:ext cx="38354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00" dirty="0"/>
              <a:t>......</a:t>
            </a:r>
            <a:endParaRPr lang="en-US" altLang="zh-CN" sz="1000" dirty="0"/>
          </a:p>
        </p:txBody>
      </p:sp>
      <p:sp>
        <p:nvSpPr>
          <p:cNvPr id="140" name="右箭头 26"/>
          <p:cNvSpPr/>
          <p:nvPr/>
        </p:nvSpPr>
        <p:spPr>
          <a:xfrm rot="5400000">
            <a:off x="7499350" y="47955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1" name="文本框 140"/>
          <p:cNvSpPr txBox="1"/>
          <p:nvPr/>
        </p:nvSpPr>
        <p:spPr>
          <a:xfrm>
            <a:off x="7795260" y="4772660"/>
            <a:ext cx="646430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预测</a:t>
            </a:r>
            <a:endParaRPr lang="zh-CN" altLang="en-US" sz="1000" dirty="0"/>
          </a:p>
        </p:txBody>
      </p:sp>
      <p:sp>
        <p:nvSpPr>
          <p:cNvPr id="142" name="手杖形箭头 141"/>
          <p:cNvSpPr/>
          <p:nvPr/>
        </p:nvSpPr>
        <p:spPr>
          <a:xfrm rot="5400000" flipH="1">
            <a:off x="7294880" y="2976880"/>
            <a:ext cx="3730625" cy="825500"/>
          </a:xfrm>
          <a:prstGeom prst="uturnArrow">
            <a:avLst>
              <a:gd name="adj1" fmla="val 8653"/>
              <a:gd name="adj2" fmla="val 8520"/>
              <a:gd name="adj3" fmla="val 13933"/>
              <a:gd name="adj4" fmla="val 44480"/>
              <a:gd name="adj5" fmla="val 521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n>
                <a:noFill/>
              </a:ln>
              <a:solidFill>
                <a:schemeClr val="tx1"/>
              </a:solidFill>
            </a:endParaRPr>
          </a:p>
        </p:txBody>
      </p:sp>
      <p:sp>
        <p:nvSpPr>
          <p:cNvPr id="144" name="右箭头 26"/>
          <p:cNvSpPr/>
          <p:nvPr/>
        </p:nvSpPr>
        <p:spPr>
          <a:xfrm rot="5400000">
            <a:off x="7499350" y="5455920"/>
            <a:ext cx="29718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5" name="文本框 144"/>
          <p:cNvSpPr txBox="1"/>
          <p:nvPr/>
        </p:nvSpPr>
        <p:spPr>
          <a:xfrm>
            <a:off x="7795260" y="5433060"/>
            <a:ext cx="814705" cy="226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生成</a:t>
            </a:r>
            <a:r>
              <a:rPr lang="zh-CN" altLang="en-US" sz="1000" dirty="0"/>
              <a:t>结束</a:t>
            </a:r>
            <a:endParaRPr lang="zh-CN" altLang="en-US" sz="1000" dirty="0"/>
          </a:p>
        </p:txBody>
      </p:sp>
      <p:sp>
        <p:nvSpPr>
          <p:cNvPr id="146" name="文本框 145"/>
          <p:cNvSpPr txBox="1"/>
          <p:nvPr/>
        </p:nvSpPr>
        <p:spPr>
          <a:xfrm>
            <a:off x="6548120" y="5753100"/>
            <a:ext cx="2199640" cy="2622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升高</a:t>
            </a:r>
            <a:r>
              <a:rPr lang="en-US" altLang="zh-CN" sz="1200" dirty="0">
                <a:sym typeface="+mn-ea"/>
              </a:rPr>
              <a:t> /</a:t>
            </a:r>
            <a:r>
              <a:rPr lang="zh-CN" altLang="en-US" sz="1200" dirty="0">
                <a:sym typeface="+mn-ea"/>
              </a:rPr>
              <a:t>，</a:t>
            </a:r>
            <a:r>
              <a:rPr lang="en-US" altLang="zh-CN" sz="1200" dirty="0">
                <a:sym typeface="+mn-ea"/>
              </a:rPr>
              <a:t>/ </a:t>
            </a:r>
            <a:r>
              <a:rPr lang="zh-CN" altLang="en-US" sz="1200" dirty="0">
                <a:sym typeface="+mn-ea"/>
              </a:rPr>
              <a:t>注意</a:t>
            </a:r>
            <a:r>
              <a:rPr lang="en-US" altLang="zh-CN" sz="1200" dirty="0">
                <a:sym typeface="+mn-ea"/>
              </a:rPr>
              <a:t> / </a:t>
            </a:r>
            <a:r>
              <a:rPr lang="zh-CN" altLang="en-US" sz="1200" dirty="0">
                <a:sym typeface="+mn-ea"/>
              </a:rPr>
              <a:t>防暑</a:t>
            </a:r>
            <a:endParaRPr lang="zh-CN" altLang="en-US" sz="1200" dirty="0">
              <a:sym typeface="+mn-ea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6769735" y="6381115"/>
            <a:ext cx="1756410" cy="262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zh-CN" altLang="en-US" sz="1200" dirty="0">
                <a:sym typeface="+mn-ea"/>
              </a:rPr>
              <a:t>气温升高，注意防暑</a:t>
            </a:r>
            <a:endParaRPr lang="zh-CN" altLang="en-US" sz="1200" dirty="0"/>
          </a:p>
        </p:txBody>
      </p:sp>
      <p:sp>
        <p:nvSpPr>
          <p:cNvPr id="148" name="右箭头 26"/>
          <p:cNvSpPr/>
          <p:nvPr/>
        </p:nvSpPr>
        <p:spPr>
          <a:xfrm rot="5400000">
            <a:off x="7503160" y="6112510"/>
            <a:ext cx="289560" cy="18161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49" name="文本框 148"/>
          <p:cNvSpPr txBox="1"/>
          <p:nvPr/>
        </p:nvSpPr>
        <p:spPr>
          <a:xfrm>
            <a:off x="7795260" y="6062980"/>
            <a:ext cx="473710" cy="210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转换</a:t>
            </a:r>
            <a:endParaRPr lang="zh-CN" altLang="en-US" sz="1000" dirty="0"/>
          </a:p>
        </p:txBody>
      </p:sp>
      <p:sp>
        <p:nvSpPr>
          <p:cNvPr id="150" name="文本框 149"/>
          <p:cNvSpPr txBox="1"/>
          <p:nvPr/>
        </p:nvSpPr>
        <p:spPr>
          <a:xfrm>
            <a:off x="7795260" y="3276600"/>
            <a:ext cx="520065" cy="266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计算</a:t>
            </a:r>
            <a:endParaRPr lang="zh-CN" altLang="en-US" sz="1000" dirty="0"/>
          </a:p>
        </p:txBody>
      </p:sp>
      <p:sp>
        <p:nvSpPr>
          <p:cNvPr id="152" name="文本框 151"/>
          <p:cNvSpPr txBox="1"/>
          <p:nvPr/>
        </p:nvSpPr>
        <p:spPr>
          <a:xfrm>
            <a:off x="7795260" y="1892935"/>
            <a:ext cx="1061085" cy="4089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查找每个</a:t>
            </a:r>
            <a:r>
              <a:rPr lang="en-US" altLang="zh-CN" sz="1000" dirty="0"/>
              <a:t>token</a:t>
            </a:r>
            <a:r>
              <a:rPr lang="zh-CN" altLang="en-US" sz="1000" dirty="0"/>
              <a:t>对应的向量</a:t>
            </a:r>
            <a:endParaRPr lang="zh-CN" altLang="en-US" sz="1000" dirty="0"/>
          </a:p>
        </p:txBody>
      </p:sp>
      <p:sp>
        <p:nvSpPr>
          <p:cNvPr id="153" name="文本框 152"/>
          <p:cNvSpPr txBox="1"/>
          <p:nvPr/>
        </p:nvSpPr>
        <p:spPr>
          <a:xfrm>
            <a:off x="9613900" y="2773045"/>
            <a:ext cx="838200" cy="536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000" dirty="0"/>
              <a:t>加入</a:t>
            </a:r>
            <a:r>
              <a:rPr lang="zh-CN" altLang="en-US" sz="1000" dirty="0">
                <a:sym typeface="+mn-ea"/>
              </a:rPr>
              <a:t>序列</a:t>
            </a:r>
            <a:r>
              <a:rPr lang="zh-CN" altLang="en-US" sz="1000" dirty="0"/>
              <a:t>作为最后一个</a:t>
            </a:r>
            <a:r>
              <a:rPr lang="en-US" altLang="zh-CN" sz="1000" dirty="0"/>
              <a:t>token</a:t>
            </a:r>
            <a:endParaRPr lang="en-US" altLang="zh-CN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e8ebea44-6430-4dd4-bcdd-21c1d86577b7}"/>
  <p:tag name="TABLE_ENDDRAG_ORIGIN_RECT" val="164*208"/>
  <p:tag name="TABLE_ENDDRAG_RECT" val="144*165*164*208"/>
</p:tagLst>
</file>

<file path=ppt/tags/tag2.xml><?xml version="1.0" encoding="utf-8"?>
<p:tagLst xmlns:p="http://schemas.openxmlformats.org/presentationml/2006/main">
  <p:tag name="COMMONDATA" val="eyJoZGlkIjoiMjllZmI5NGRiYWI2ZDdkMDRmZDNiMGUwOWVjNmRmODYifQ=="/>
  <p:tag name="KSO_WPP_MARK_KEY" val="7792a17e-91d7-4c44-992a-cf0a45656bd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1581</Words>
  <Application>WPS 演示</Application>
  <PresentationFormat>宽屏</PresentationFormat>
  <Paragraphs>419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</vt:lpstr>
      <vt:lpstr>Arial Unicode MS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贾震</dc:creator>
  <cp:lastModifiedBy>jz</cp:lastModifiedBy>
  <cp:revision>67</cp:revision>
  <dcterms:created xsi:type="dcterms:W3CDTF">2025-01-20T10:49:00Z</dcterms:created>
  <dcterms:modified xsi:type="dcterms:W3CDTF">2026-08-09T17:28:08Z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8B43CFA454234C1D9F5D5C3CC769F140</vt:lpwstr>
  </property>
  <property fmtid="{D5CDD505-2E9C-101B-9397-08002B2CF9AE}" pid="3" name="KSOProductBuildVer">
    <vt:lpwstr>2052-12.1.0.28043</vt:lpwstr>
  </property>
</Properties>
</file>