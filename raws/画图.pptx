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72" y="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3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300480" y="2006600"/>
            <a:ext cx="1244600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浏览器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2694305" y="1969135"/>
            <a:ext cx="201422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473700" y="3655060"/>
            <a:ext cx="124460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http-proxy</a:t>
            </a:r>
            <a:r>
              <a:rPr lang="zh-CN" altLang="en-US"/>
              <a:t>代理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796155" y="1606550"/>
            <a:ext cx="2661920" cy="302069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35575" y="1819910"/>
            <a:ext cx="178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/>
              <a:t>本地开发服务器</a:t>
            </a:r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7018655" y="3747770"/>
            <a:ext cx="230251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 rot="5400000">
            <a:off x="5450840" y="2818130"/>
            <a:ext cx="109347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260340" y="2445385"/>
            <a:ext cx="6807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提供代理请求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478010" y="3655060"/>
            <a:ext cx="146050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后端服务</a:t>
            </a:r>
            <a:endParaRPr lang="zh-CN" altLang="en-US"/>
          </a:p>
          <a:p>
            <a:pPr algn="ctr"/>
            <a:r>
              <a:rPr lang="zh-CN" altLang="en-US"/>
              <a:t>可能有多个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462520" y="3371850"/>
            <a:ext cx="1757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跨域接口请求</a:t>
            </a:r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 rot="10800000">
            <a:off x="7018655" y="4017645"/>
            <a:ext cx="230251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717155" y="4217035"/>
            <a:ext cx="1126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返回数据</a:t>
            </a:r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 rot="16200000">
            <a:off x="5732145" y="2818130"/>
            <a:ext cx="109347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337935" y="2583815"/>
            <a:ext cx="680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返回</a:t>
            </a:r>
            <a:endParaRPr lang="zh-CN" altLang="en-US"/>
          </a:p>
          <a:p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104515" y="1606550"/>
            <a:ext cx="1193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接口请求</a:t>
            </a:r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 rot="10800000">
            <a:off x="2680970" y="2209800"/>
            <a:ext cx="200850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086100" y="2431415"/>
            <a:ext cx="1193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返回数据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63575" y="377190"/>
            <a:ext cx="92646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浏览器</a:t>
            </a:r>
            <a:endParaRPr lang="zh-CN" altLang="en-US" sz="1400"/>
          </a:p>
        </p:txBody>
      </p:sp>
      <p:sp>
        <p:nvSpPr>
          <p:cNvPr id="12" name="右箭头 11"/>
          <p:cNvSpPr/>
          <p:nvPr/>
        </p:nvSpPr>
        <p:spPr>
          <a:xfrm>
            <a:off x="1737360" y="947420"/>
            <a:ext cx="124650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" name="右箭头 12"/>
          <p:cNvSpPr/>
          <p:nvPr/>
        </p:nvSpPr>
        <p:spPr>
          <a:xfrm rot="5400000">
            <a:off x="1897380" y="2820670"/>
            <a:ext cx="339471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3809365" y="2579370"/>
            <a:ext cx="6940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准备页面数据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3137535" y="377190"/>
            <a:ext cx="136588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HTTP</a:t>
            </a:r>
            <a:r>
              <a:rPr lang="zh-CN" altLang="en-US" sz="1400"/>
              <a:t>服务端</a:t>
            </a:r>
            <a:endParaRPr lang="zh-CN" altLang="en-US" sz="1400"/>
          </a:p>
        </p:txBody>
      </p:sp>
      <p:sp>
        <p:nvSpPr>
          <p:cNvPr id="17" name="右箭头 16"/>
          <p:cNvSpPr/>
          <p:nvPr/>
        </p:nvSpPr>
        <p:spPr>
          <a:xfrm rot="10800000">
            <a:off x="1737360" y="4679315"/>
            <a:ext cx="122618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8" name="文本框 17"/>
          <p:cNvSpPr txBox="1"/>
          <p:nvPr/>
        </p:nvSpPr>
        <p:spPr>
          <a:xfrm>
            <a:off x="671195" y="897890"/>
            <a:ext cx="9112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请求页面</a:t>
            </a:r>
            <a:endParaRPr lang="zh-CN" altLang="en-US" sz="1400"/>
          </a:p>
        </p:txBody>
      </p:sp>
      <p:sp>
        <p:nvSpPr>
          <p:cNvPr id="21" name="文本框 20"/>
          <p:cNvSpPr txBox="1"/>
          <p:nvPr/>
        </p:nvSpPr>
        <p:spPr>
          <a:xfrm>
            <a:off x="3162300" y="897255"/>
            <a:ext cx="9029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收到请求</a:t>
            </a:r>
            <a:endParaRPr lang="zh-CN" altLang="en-US" sz="1400"/>
          </a:p>
        </p:txBody>
      </p:sp>
      <p:cxnSp>
        <p:nvCxnSpPr>
          <p:cNvPr id="2" name="直接连接符 1"/>
          <p:cNvCxnSpPr/>
          <p:nvPr/>
        </p:nvCxnSpPr>
        <p:spPr>
          <a:xfrm>
            <a:off x="1595120" y="802640"/>
            <a:ext cx="0" cy="479044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3126105" y="802640"/>
            <a:ext cx="0" cy="479044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137535" y="4647565"/>
            <a:ext cx="1010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返回数据</a:t>
            </a:r>
            <a:endParaRPr lang="zh-CN" altLang="en-US" sz="1400"/>
          </a:p>
        </p:txBody>
      </p:sp>
      <p:sp>
        <p:nvSpPr>
          <p:cNvPr id="25" name="文本框 24"/>
          <p:cNvSpPr txBox="1"/>
          <p:nvPr/>
        </p:nvSpPr>
        <p:spPr>
          <a:xfrm>
            <a:off x="645795" y="4624070"/>
            <a:ext cx="936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收到数据</a:t>
            </a:r>
            <a:endParaRPr lang="zh-CN" altLang="en-US" sz="1400"/>
          </a:p>
        </p:txBody>
      </p:sp>
      <p:sp>
        <p:nvSpPr>
          <p:cNvPr id="27" name="右箭头 26"/>
          <p:cNvSpPr/>
          <p:nvPr/>
        </p:nvSpPr>
        <p:spPr>
          <a:xfrm rot="5400000">
            <a:off x="948055" y="5032375"/>
            <a:ext cx="36385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8" name="文本框 27"/>
          <p:cNvSpPr txBox="1"/>
          <p:nvPr/>
        </p:nvSpPr>
        <p:spPr>
          <a:xfrm>
            <a:off x="504825" y="4971415"/>
            <a:ext cx="614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渲染</a:t>
            </a:r>
            <a:endParaRPr lang="zh-CN" altLang="en-US" sz="1400"/>
          </a:p>
        </p:txBody>
      </p:sp>
      <p:sp>
        <p:nvSpPr>
          <p:cNvPr id="29" name="文本框 28"/>
          <p:cNvSpPr txBox="1"/>
          <p:nvPr/>
        </p:nvSpPr>
        <p:spPr>
          <a:xfrm>
            <a:off x="645795" y="5333365"/>
            <a:ext cx="936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展示页面</a:t>
            </a:r>
            <a:endParaRPr lang="zh-CN" altLang="en-US" sz="1400"/>
          </a:p>
        </p:txBody>
      </p:sp>
      <p:sp>
        <p:nvSpPr>
          <p:cNvPr id="31" name="文本框 30"/>
          <p:cNvSpPr txBox="1"/>
          <p:nvPr/>
        </p:nvSpPr>
        <p:spPr>
          <a:xfrm>
            <a:off x="5894070" y="361950"/>
            <a:ext cx="92646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浏览器</a:t>
            </a:r>
            <a:endParaRPr lang="zh-CN" altLang="en-US" sz="1400"/>
          </a:p>
        </p:txBody>
      </p:sp>
      <p:sp>
        <p:nvSpPr>
          <p:cNvPr id="32" name="右箭头 31"/>
          <p:cNvSpPr/>
          <p:nvPr/>
        </p:nvSpPr>
        <p:spPr>
          <a:xfrm>
            <a:off x="6967855" y="932180"/>
            <a:ext cx="124650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3" name="右箭头 32"/>
          <p:cNvSpPr/>
          <p:nvPr/>
        </p:nvSpPr>
        <p:spPr>
          <a:xfrm rot="5400000">
            <a:off x="8553450" y="1380490"/>
            <a:ext cx="60769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4" name="文本框 33"/>
          <p:cNvSpPr txBox="1"/>
          <p:nvPr/>
        </p:nvSpPr>
        <p:spPr>
          <a:xfrm>
            <a:off x="9105900" y="1266190"/>
            <a:ext cx="9582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准备部分页面数据</a:t>
            </a:r>
            <a:endParaRPr lang="zh-CN" altLang="en-US" sz="1400"/>
          </a:p>
        </p:txBody>
      </p:sp>
      <p:sp>
        <p:nvSpPr>
          <p:cNvPr id="35" name="文本框 34"/>
          <p:cNvSpPr txBox="1"/>
          <p:nvPr/>
        </p:nvSpPr>
        <p:spPr>
          <a:xfrm>
            <a:off x="8355330" y="361950"/>
            <a:ext cx="136588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HTTP</a:t>
            </a:r>
            <a:r>
              <a:rPr lang="zh-CN" altLang="en-US" sz="1400"/>
              <a:t>服务端</a:t>
            </a:r>
            <a:endParaRPr lang="zh-CN" altLang="en-US" sz="1400"/>
          </a:p>
        </p:txBody>
      </p:sp>
      <p:sp>
        <p:nvSpPr>
          <p:cNvPr id="36" name="右箭头 35"/>
          <p:cNvSpPr/>
          <p:nvPr/>
        </p:nvSpPr>
        <p:spPr>
          <a:xfrm rot="10800000">
            <a:off x="6988175" y="1953260"/>
            <a:ext cx="122618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7" name="文本框 36"/>
          <p:cNvSpPr txBox="1"/>
          <p:nvPr/>
        </p:nvSpPr>
        <p:spPr>
          <a:xfrm>
            <a:off x="5857240" y="882650"/>
            <a:ext cx="9112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请求页面</a:t>
            </a:r>
            <a:endParaRPr lang="zh-CN" altLang="en-US" sz="1400"/>
          </a:p>
        </p:txBody>
      </p:sp>
      <p:sp>
        <p:nvSpPr>
          <p:cNvPr id="38" name="文本框 37"/>
          <p:cNvSpPr txBox="1"/>
          <p:nvPr/>
        </p:nvSpPr>
        <p:spPr>
          <a:xfrm>
            <a:off x="8405495" y="868680"/>
            <a:ext cx="9029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收到请求</a:t>
            </a:r>
            <a:endParaRPr lang="zh-CN" altLang="en-US" sz="1400"/>
          </a:p>
        </p:txBody>
      </p:sp>
      <p:cxnSp>
        <p:nvCxnSpPr>
          <p:cNvPr id="39" name="直接连接符 38"/>
          <p:cNvCxnSpPr/>
          <p:nvPr/>
        </p:nvCxnSpPr>
        <p:spPr>
          <a:xfrm>
            <a:off x="6825615" y="787400"/>
            <a:ext cx="0" cy="479044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8356600" y="787400"/>
            <a:ext cx="0" cy="479044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8426450" y="1903730"/>
            <a:ext cx="13658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返回部分数据</a:t>
            </a:r>
            <a:endParaRPr lang="zh-CN" altLang="en-US" sz="1400"/>
          </a:p>
        </p:txBody>
      </p:sp>
      <p:sp>
        <p:nvSpPr>
          <p:cNvPr id="42" name="文本框 41"/>
          <p:cNvSpPr txBox="1"/>
          <p:nvPr/>
        </p:nvSpPr>
        <p:spPr>
          <a:xfrm>
            <a:off x="5874385" y="1955800"/>
            <a:ext cx="936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收到数据</a:t>
            </a:r>
            <a:endParaRPr lang="zh-CN" altLang="en-US" sz="1400"/>
          </a:p>
        </p:txBody>
      </p:sp>
      <p:sp>
        <p:nvSpPr>
          <p:cNvPr id="43" name="右箭头 42"/>
          <p:cNvSpPr/>
          <p:nvPr/>
        </p:nvSpPr>
        <p:spPr>
          <a:xfrm rot="5400000">
            <a:off x="6120765" y="2413635"/>
            <a:ext cx="44386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4" name="文本框 43"/>
          <p:cNvSpPr txBox="1"/>
          <p:nvPr/>
        </p:nvSpPr>
        <p:spPr>
          <a:xfrm>
            <a:off x="5673090" y="2322195"/>
            <a:ext cx="614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渲染</a:t>
            </a:r>
            <a:endParaRPr lang="zh-CN" altLang="en-US" sz="1400"/>
          </a:p>
        </p:txBody>
      </p:sp>
      <p:sp>
        <p:nvSpPr>
          <p:cNvPr id="45" name="文本框 44"/>
          <p:cNvSpPr txBox="1"/>
          <p:nvPr/>
        </p:nvSpPr>
        <p:spPr>
          <a:xfrm>
            <a:off x="5563235" y="2780665"/>
            <a:ext cx="1281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展示部分页面</a:t>
            </a:r>
            <a:endParaRPr lang="zh-CN" altLang="en-US" sz="1400"/>
          </a:p>
        </p:txBody>
      </p:sp>
      <p:sp>
        <p:nvSpPr>
          <p:cNvPr id="46" name="文本框 45"/>
          <p:cNvSpPr txBox="1"/>
          <p:nvPr/>
        </p:nvSpPr>
        <p:spPr>
          <a:xfrm>
            <a:off x="2120900" y="6141720"/>
            <a:ext cx="1501775" cy="30670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非流式渲染</a:t>
            </a:r>
            <a:endParaRPr lang="zh-CN" altLang="en-US" sz="1400"/>
          </a:p>
        </p:txBody>
      </p:sp>
      <p:sp>
        <p:nvSpPr>
          <p:cNvPr id="47" name="右箭头 46"/>
          <p:cNvSpPr/>
          <p:nvPr/>
        </p:nvSpPr>
        <p:spPr>
          <a:xfrm rot="5400000">
            <a:off x="8392795" y="2667000"/>
            <a:ext cx="99441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8" name="文本框 47"/>
          <p:cNvSpPr txBox="1"/>
          <p:nvPr/>
        </p:nvSpPr>
        <p:spPr>
          <a:xfrm>
            <a:off x="9126220" y="2435225"/>
            <a:ext cx="9582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准备部分页面数据</a:t>
            </a:r>
            <a:endParaRPr lang="zh-CN" altLang="en-US" sz="1400"/>
          </a:p>
        </p:txBody>
      </p:sp>
      <p:sp>
        <p:nvSpPr>
          <p:cNvPr id="49" name="文本框 48"/>
          <p:cNvSpPr txBox="1"/>
          <p:nvPr/>
        </p:nvSpPr>
        <p:spPr>
          <a:xfrm>
            <a:off x="8426450" y="3330575"/>
            <a:ext cx="13658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返回部分数据</a:t>
            </a:r>
            <a:endParaRPr lang="zh-CN" altLang="en-US" sz="1400"/>
          </a:p>
        </p:txBody>
      </p:sp>
      <p:sp>
        <p:nvSpPr>
          <p:cNvPr id="50" name="右箭头 49"/>
          <p:cNvSpPr/>
          <p:nvPr/>
        </p:nvSpPr>
        <p:spPr>
          <a:xfrm rot="10800000">
            <a:off x="7023100" y="3380740"/>
            <a:ext cx="122618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1" name="文本框 50"/>
          <p:cNvSpPr txBox="1"/>
          <p:nvPr/>
        </p:nvSpPr>
        <p:spPr>
          <a:xfrm>
            <a:off x="5852160" y="3353435"/>
            <a:ext cx="936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收到数据</a:t>
            </a:r>
            <a:endParaRPr lang="zh-CN" altLang="en-US" sz="1400"/>
          </a:p>
        </p:txBody>
      </p:sp>
      <p:sp>
        <p:nvSpPr>
          <p:cNvPr id="52" name="右箭头 51"/>
          <p:cNvSpPr/>
          <p:nvPr/>
        </p:nvSpPr>
        <p:spPr>
          <a:xfrm rot="5400000">
            <a:off x="6087110" y="3764280"/>
            <a:ext cx="44386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3" name="文本框 52"/>
          <p:cNvSpPr txBox="1"/>
          <p:nvPr/>
        </p:nvSpPr>
        <p:spPr>
          <a:xfrm>
            <a:off x="5639435" y="3672840"/>
            <a:ext cx="614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渲染</a:t>
            </a:r>
            <a:endParaRPr lang="zh-CN" altLang="en-US" sz="1400"/>
          </a:p>
        </p:txBody>
      </p:sp>
      <p:sp>
        <p:nvSpPr>
          <p:cNvPr id="54" name="文本框 53"/>
          <p:cNvSpPr txBox="1"/>
          <p:nvPr/>
        </p:nvSpPr>
        <p:spPr>
          <a:xfrm>
            <a:off x="5514975" y="4090035"/>
            <a:ext cx="1281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展示部分页面</a:t>
            </a:r>
            <a:endParaRPr lang="zh-CN" altLang="en-US" sz="1400"/>
          </a:p>
        </p:txBody>
      </p:sp>
      <p:sp>
        <p:nvSpPr>
          <p:cNvPr id="55" name="文本框 54"/>
          <p:cNvSpPr txBox="1"/>
          <p:nvPr/>
        </p:nvSpPr>
        <p:spPr>
          <a:xfrm>
            <a:off x="6854825" y="5925185"/>
            <a:ext cx="1501775" cy="30670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流式渲染</a:t>
            </a:r>
            <a:endParaRPr lang="zh-CN" altLang="en-US" sz="1400"/>
          </a:p>
        </p:txBody>
      </p:sp>
      <p:sp>
        <p:nvSpPr>
          <p:cNvPr id="56" name="右箭头 55"/>
          <p:cNvSpPr/>
          <p:nvPr/>
        </p:nvSpPr>
        <p:spPr>
          <a:xfrm rot="5400000">
            <a:off x="8437245" y="4010025"/>
            <a:ext cx="88074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1" name="矩形 60"/>
          <p:cNvSpPr/>
          <p:nvPr/>
        </p:nvSpPr>
        <p:spPr>
          <a:xfrm>
            <a:off x="5487035" y="1840230"/>
            <a:ext cx="4669155" cy="147637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10274300" y="2210435"/>
            <a:ext cx="6057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可以重复多次</a:t>
            </a:r>
            <a:endParaRPr lang="zh-CN" altLang="en-US" sz="1400"/>
          </a:p>
        </p:txBody>
      </p:sp>
      <p:sp>
        <p:nvSpPr>
          <p:cNvPr id="63" name="文本框 62"/>
          <p:cNvSpPr txBox="1"/>
          <p:nvPr/>
        </p:nvSpPr>
        <p:spPr>
          <a:xfrm>
            <a:off x="9065260" y="3741420"/>
            <a:ext cx="9582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准备最后的数据</a:t>
            </a:r>
            <a:endParaRPr lang="zh-CN" altLang="en-US" sz="1400"/>
          </a:p>
        </p:txBody>
      </p:sp>
      <p:sp>
        <p:nvSpPr>
          <p:cNvPr id="64" name="文本框 63"/>
          <p:cNvSpPr txBox="1"/>
          <p:nvPr/>
        </p:nvSpPr>
        <p:spPr>
          <a:xfrm>
            <a:off x="8426450" y="4554220"/>
            <a:ext cx="15233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返回最后的数据</a:t>
            </a:r>
            <a:endParaRPr lang="zh-CN" altLang="en-US" sz="1400"/>
          </a:p>
        </p:txBody>
      </p:sp>
      <p:sp>
        <p:nvSpPr>
          <p:cNvPr id="65" name="文本框 64"/>
          <p:cNvSpPr txBox="1"/>
          <p:nvPr/>
        </p:nvSpPr>
        <p:spPr>
          <a:xfrm>
            <a:off x="5877560" y="4541520"/>
            <a:ext cx="936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收到数据</a:t>
            </a:r>
            <a:endParaRPr lang="zh-CN" altLang="en-US" sz="1400"/>
          </a:p>
        </p:txBody>
      </p:sp>
      <p:sp>
        <p:nvSpPr>
          <p:cNvPr id="66" name="右箭头 65"/>
          <p:cNvSpPr/>
          <p:nvPr/>
        </p:nvSpPr>
        <p:spPr>
          <a:xfrm rot="5400000">
            <a:off x="6112510" y="4952365"/>
            <a:ext cx="44386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7" name="文本框 66"/>
          <p:cNvSpPr txBox="1"/>
          <p:nvPr/>
        </p:nvSpPr>
        <p:spPr>
          <a:xfrm>
            <a:off x="5664835" y="4860925"/>
            <a:ext cx="614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渲染</a:t>
            </a:r>
            <a:endParaRPr lang="zh-CN" altLang="en-US" sz="1400"/>
          </a:p>
        </p:txBody>
      </p:sp>
      <p:sp>
        <p:nvSpPr>
          <p:cNvPr id="68" name="文本框 67"/>
          <p:cNvSpPr txBox="1"/>
          <p:nvPr/>
        </p:nvSpPr>
        <p:spPr>
          <a:xfrm>
            <a:off x="5540375" y="5278120"/>
            <a:ext cx="1281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展示完整页面</a:t>
            </a:r>
            <a:endParaRPr lang="zh-CN" altLang="en-US" sz="1400"/>
          </a:p>
        </p:txBody>
      </p:sp>
      <p:sp>
        <p:nvSpPr>
          <p:cNvPr id="69" name="右箭头 68"/>
          <p:cNvSpPr/>
          <p:nvPr/>
        </p:nvSpPr>
        <p:spPr>
          <a:xfrm rot="10800000">
            <a:off x="6992620" y="4620895"/>
            <a:ext cx="122618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63575" y="377190"/>
            <a:ext cx="92646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浏览器</a:t>
            </a:r>
            <a:endParaRPr lang="zh-CN" altLang="en-US" sz="1400"/>
          </a:p>
        </p:txBody>
      </p:sp>
      <p:sp>
        <p:nvSpPr>
          <p:cNvPr id="12" name="右箭头 11"/>
          <p:cNvSpPr/>
          <p:nvPr/>
        </p:nvSpPr>
        <p:spPr>
          <a:xfrm>
            <a:off x="1737360" y="947420"/>
            <a:ext cx="124650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" name="右箭头 12"/>
          <p:cNvSpPr/>
          <p:nvPr/>
        </p:nvSpPr>
        <p:spPr>
          <a:xfrm rot="5400000">
            <a:off x="1897380" y="2820670"/>
            <a:ext cx="339471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3809365" y="2579370"/>
            <a:ext cx="694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准备数据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3137535" y="377190"/>
            <a:ext cx="136588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HTTP</a:t>
            </a:r>
            <a:r>
              <a:rPr lang="zh-CN" altLang="en-US" sz="1400"/>
              <a:t>服务端</a:t>
            </a:r>
            <a:endParaRPr lang="zh-CN" altLang="en-US" sz="1400"/>
          </a:p>
        </p:txBody>
      </p:sp>
      <p:sp>
        <p:nvSpPr>
          <p:cNvPr id="17" name="右箭头 16"/>
          <p:cNvSpPr/>
          <p:nvPr/>
        </p:nvSpPr>
        <p:spPr>
          <a:xfrm rot="10800000">
            <a:off x="1737360" y="4679315"/>
            <a:ext cx="122618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8" name="文本框 17"/>
          <p:cNvSpPr txBox="1"/>
          <p:nvPr/>
        </p:nvSpPr>
        <p:spPr>
          <a:xfrm>
            <a:off x="306705" y="897890"/>
            <a:ext cx="12757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请求数据接口</a:t>
            </a:r>
            <a:endParaRPr lang="zh-CN" altLang="en-US" sz="1400"/>
          </a:p>
        </p:txBody>
      </p:sp>
      <p:sp>
        <p:nvSpPr>
          <p:cNvPr id="21" name="文本框 20"/>
          <p:cNvSpPr txBox="1"/>
          <p:nvPr/>
        </p:nvSpPr>
        <p:spPr>
          <a:xfrm>
            <a:off x="3162300" y="897255"/>
            <a:ext cx="9029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收到请求</a:t>
            </a:r>
            <a:endParaRPr lang="zh-CN" altLang="en-US" sz="1400"/>
          </a:p>
        </p:txBody>
      </p:sp>
      <p:cxnSp>
        <p:nvCxnSpPr>
          <p:cNvPr id="2" name="直接连接符 1"/>
          <p:cNvCxnSpPr/>
          <p:nvPr/>
        </p:nvCxnSpPr>
        <p:spPr>
          <a:xfrm>
            <a:off x="1595120" y="802640"/>
            <a:ext cx="0" cy="479044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3126105" y="802640"/>
            <a:ext cx="0" cy="479044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137535" y="4647565"/>
            <a:ext cx="1010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返回数据</a:t>
            </a:r>
            <a:endParaRPr lang="zh-CN" altLang="en-US" sz="1400"/>
          </a:p>
        </p:txBody>
      </p:sp>
      <p:sp>
        <p:nvSpPr>
          <p:cNvPr id="25" name="文本框 24"/>
          <p:cNvSpPr txBox="1"/>
          <p:nvPr/>
        </p:nvSpPr>
        <p:spPr>
          <a:xfrm>
            <a:off x="645795" y="4624070"/>
            <a:ext cx="936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收到数据</a:t>
            </a:r>
            <a:endParaRPr lang="zh-CN" altLang="en-US" sz="1400"/>
          </a:p>
        </p:txBody>
      </p:sp>
      <p:sp>
        <p:nvSpPr>
          <p:cNvPr id="27" name="右箭头 26"/>
          <p:cNvSpPr/>
          <p:nvPr/>
        </p:nvSpPr>
        <p:spPr>
          <a:xfrm rot="5400000">
            <a:off x="948055" y="5032375"/>
            <a:ext cx="36385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9" name="文本框 28"/>
          <p:cNvSpPr txBox="1"/>
          <p:nvPr/>
        </p:nvSpPr>
        <p:spPr>
          <a:xfrm>
            <a:off x="635000" y="5318125"/>
            <a:ext cx="9664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展示数据</a:t>
            </a:r>
            <a:endParaRPr lang="zh-CN" altLang="en-US" sz="1400"/>
          </a:p>
        </p:txBody>
      </p:sp>
      <p:sp>
        <p:nvSpPr>
          <p:cNvPr id="31" name="文本框 30"/>
          <p:cNvSpPr txBox="1"/>
          <p:nvPr/>
        </p:nvSpPr>
        <p:spPr>
          <a:xfrm>
            <a:off x="5894070" y="361950"/>
            <a:ext cx="92646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浏览器</a:t>
            </a:r>
            <a:endParaRPr lang="zh-CN" altLang="en-US" sz="1400"/>
          </a:p>
        </p:txBody>
      </p:sp>
      <p:sp>
        <p:nvSpPr>
          <p:cNvPr id="32" name="右箭头 31"/>
          <p:cNvSpPr/>
          <p:nvPr/>
        </p:nvSpPr>
        <p:spPr>
          <a:xfrm>
            <a:off x="6967855" y="932180"/>
            <a:ext cx="124650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3" name="右箭头 32"/>
          <p:cNvSpPr/>
          <p:nvPr/>
        </p:nvSpPr>
        <p:spPr>
          <a:xfrm rot="5400000">
            <a:off x="8553450" y="1380490"/>
            <a:ext cx="60769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4" name="文本框 33"/>
          <p:cNvSpPr txBox="1"/>
          <p:nvPr/>
        </p:nvSpPr>
        <p:spPr>
          <a:xfrm>
            <a:off x="9105900" y="1266190"/>
            <a:ext cx="13633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准备部分数据</a:t>
            </a:r>
            <a:endParaRPr lang="zh-CN" altLang="en-US" sz="1400"/>
          </a:p>
        </p:txBody>
      </p:sp>
      <p:sp>
        <p:nvSpPr>
          <p:cNvPr id="35" name="文本框 34"/>
          <p:cNvSpPr txBox="1"/>
          <p:nvPr/>
        </p:nvSpPr>
        <p:spPr>
          <a:xfrm>
            <a:off x="8355330" y="361950"/>
            <a:ext cx="136588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HTTP</a:t>
            </a:r>
            <a:r>
              <a:rPr lang="zh-CN" altLang="en-US" sz="1400"/>
              <a:t>服务端</a:t>
            </a:r>
            <a:endParaRPr lang="zh-CN" altLang="en-US" sz="1400"/>
          </a:p>
        </p:txBody>
      </p:sp>
      <p:sp>
        <p:nvSpPr>
          <p:cNvPr id="36" name="右箭头 35"/>
          <p:cNvSpPr/>
          <p:nvPr/>
        </p:nvSpPr>
        <p:spPr>
          <a:xfrm rot="10800000">
            <a:off x="6988175" y="1953260"/>
            <a:ext cx="122618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7" name="文本框 36"/>
          <p:cNvSpPr txBox="1"/>
          <p:nvPr/>
        </p:nvSpPr>
        <p:spPr>
          <a:xfrm>
            <a:off x="5515610" y="882650"/>
            <a:ext cx="12528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ym typeface="+mn-ea"/>
              </a:rPr>
              <a:t>请求数据接口</a:t>
            </a:r>
            <a:endParaRPr lang="zh-CN" altLang="en-US" sz="1400"/>
          </a:p>
        </p:txBody>
      </p:sp>
      <p:sp>
        <p:nvSpPr>
          <p:cNvPr id="38" name="文本框 37"/>
          <p:cNvSpPr txBox="1"/>
          <p:nvPr/>
        </p:nvSpPr>
        <p:spPr>
          <a:xfrm>
            <a:off x="8405495" y="868680"/>
            <a:ext cx="9029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收到请求</a:t>
            </a:r>
            <a:endParaRPr lang="zh-CN" altLang="en-US" sz="1400"/>
          </a:p>
        </p:txBody>
      </p:sp>
      <p:cxnSp>
        <p:nvCxnSpPr>
          <p:cNvPr id="39" name="直接连接符 38"/>
          <p:cNvCxnSpPr/>
          <p:nvPr/>
        </p:nvCxnSpPr>
        <p:spPr>
          <a:xfrm>
            <a:off x="6825615" y="787400"/>
            <a:ext cx="0" cy="479044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8356600" y="787400"/>
            <a:ext cx="0" cy="479044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8426450" y="1903730"/>
            <a:ext cx="13658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返回部分数据</a:t>
            </a:r>
            <a:endParaRPr lang="zh-CN" altLang="en-US" sz="1400"/>
          </a:p>
        </p:txBody>
      </p:sp>
      <p:sp>
        <p:nvSpPr>
          <p:cNvPr id="42" name="文本框 41"/>
          <p:cNvSpPr txBox="1"/>
          <p:nvPr/>
        </p:nvSpPr>
        <p:spPr>
          <a:xfrm>
            <a:off x="5874385" y="1955800"/>
            <a:ext cx="936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收到数据</a:t>
            </a:r>
            <a:endParaRPr lang="zh-CN" altLang="en-US" sz="1400"/>
          </a:p>
        </p:txBody>
      </p:sp>
      <p:sp>
        <p:nvSpPr>
          <p:cNvPr id="43" name="右箭头 42"/>
          <p:cNvSpPr/>
          <p:nvPr/>
        </p:nvSpPr>
        <p:spPr>
          <a:xfrm rot="5400000">
            <a:off x="6176010" y="2359025"/>
            <a:ext cx="33401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5" name="文本框 44"/>
          <p:cNvSpPr txBox="1"/>
          <p:nvPr/>
        </p:nvSpPr>
        <p:spPr>
          <a:xfrm>
            <a:off x="5573395" y="2640965"/>
            <a:ext cx="1281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展示部分数据</a:t>
            </a:r>
            <a:endParaRPr lang="zh-CN" altLang="en-US" sz="1400"/>
          </a:p>
        </p:txBody>
      </p:sp>
      <p:sp>
        <p:nvSpPr>
          <p:cNvPr id="46" name="文本框 45"/>
          <p:cNvSpPr txBox="1"/>
          <p:nvPr/>
        </p:nvSpPr>
        <p:spPr>
          <a:xfrm>
            <a:off x="1609725" y="5925185"/>
            <a:ext cx="1501775" cy="30670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非流式传输</a:t>
            </a:r>
            <a:endParaRPr lang="zh-CN" altLang="en-US" sz="1400"/>
          </a:p>
        </p:txBody>
      </p:sp>
      <p:sp>
        <p:nvSpPr>
          <p:cNvPr id="47" name="右箭头 46"/>
          <p:cNvSpPr/>
          <p:nvPr/>
        </p:nvSpPr>
        <p:spPr>
          <a:xfrm rot="5400000">
            <a:off x="8392795" y="2667000"/>
            <a:ext cx="99441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8" name="文本框 47"/>
          <p:cNvSpPr txBox="1"/>
          <p:nvPr/>
        </p:nvSpPr>
        <p:spPr>
          <a:xfrm>
            <a:off x="8993505" y="2425700"/>
            <a:ext cx="9582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准备部分数据</a:t>
            </a:r>
            <a:endParaRPr lang="zh-CN" altLang="en-US" sz="1400"/>
          </a:p>
        </p:txBody>
      </p:sp>
      <p:sp>
        <p:nvSpPr>
          <p:cNvPr id="49" name="文本框 48"/>
          <p:cNvSpPr txBox="1"/>
          <p:nvPr/>
        </p:nvSpPr>
        <p:spPr>
          <a:xfrm>
            <a:off x="8426450" y="3330575"/>
            <a:ext cx="13658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返回部分数据</a:t>
            </a:r>
            <a:endParaRPr lang="zh-CN" altLang="en-US" sz="1400"/>
          </a:p>
        </p:txBody>
      </p:sp>
      <p:sp>
        <p:nvSpPr>
          <p:cNvPr id="50" name="右箭头 49"/>
          <p:cNvSpPr/>
          <p:nvPr/>
        </p:nvSpPr>
        <p:spPr>
          <a:xfrm rot="10800000">
            <a:off x="7023100" y="3380740"/>
            <a:ext cx="122618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1" name="文本框 50"/>
          <p:cNvSpPr txBox="1"/>
          <p:nvPr/>
        </p:nvSpPr>
        <p:spPr>
          <a:xfrm>
            <a:off x="5852160" y="3353435"/>
            <a:ext cx="936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收到数据</a:t>
            </a:r>
            <a:endParaRPr lang="zh-CN" altLang="en-US" sz="1400"/>
          </a:p>
        </p:txBody>
      </p:sp>
      <p:sp>
        <p:nvSpPr>
          <p:cNvPr id="52" name="右箭头 51"/>
          <p:cNvSpPr/>
          <p:nvPr/>
        </p:nvSpPr>
        <p:spPr>
          <a:xfrm rot="5400000">
            <a:off x="6121400" y="3730625"/>
            <a:ext cx="37592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4" name="文本框 53"/>
          <p:cNvSpPr txBox="1"/>
          <p:nvPr/>
        </p:nvSpPr>
        <p:spPr>
          <a:xfrm>
            <a:off x="5515610" y="4022090"/>
            <a:ext cx="1281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展示部分数据</a:t>
            </a:r>
            <a:endParaRPr lang="zh-CN" altLang="en-US" sz="1400"/>
          </a:p>
        </p:txBody>
      </p:sp>
      <p:sp>
        <p:nvSpPr>
          <p:cNvPr id="55" name="文本框 54"/>
          <p:cNvSpPr txBox="1"/>
          <p:nvPr/>
        </p:nvSpPr>
        <p:spPr>
          <a:xfrm>
            <a:off x="6854825" y="5925185"/>
            <a:ext cx="1501775" cy="30670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流式传输</a:t>
            </a:r>
            <a:endParaRPr lang="zh-CN" altLang="en-US" sz="1400"/>
          </a:p>
        </p:txBody>
      </p:sp>
      <p:sp>
        <p:nvSpPr>
          <p:cNvPr id="56" name="右箭头 55"/>
          <p:cNvSpPr/>
          <p:nvPr/>
        </p:nvSpPr>
        <p:spPr>
          <a:xfrm rot="5400000">
            <a:off x="8437245" y="4010025"/>
            <a:ext cx="88074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1" name="矩形 60"/>
          <p:cNvSpPr/>
          <p:nvPr/>
        </p:nvSpPr>
        <p:spPr>
          <a:xfrm>
            <a:off x="5487035" y="1840230"/>
            <a:ext cx="4669155" cy="147637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10274300" y="2210435"/>
            <a:ext cx="6057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可以重复多次</a:t>
            </a:r>
            <a:endParaRPr lang="zh-CN" altLang="en-US" sz="1400"/>
          </a:p>
        </p:txBody>
      </p:sp>
      <p:sp>
        <p:nvSpPr>
          <p:cNvPr id="63" name="文本框 62"/>
          <p:cNvSpPr txBox="1"/>
          <p:nvPr/>
        </p:nvSpPr>
        <p:spPr>
          <a:xfrm>
            <a:off x="9065260" y="3741420"/>
            <a:ext cx="9582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准备最后的数据</a:t>
            </a:r>
            <a:endParaRPr lang="zh-CN" altLang="en-US" sz="1400"/>
          </a:p>
        </p:txBody>
      </p:sp>
      <p:sp>
        <p:nvSpPr>
          <p:cNvPr id="64" name="文本框 63"/>
          <p:cNvSpPr txBox="1"/>
          <p:nvPr/>
        </p:nvSpPr>
        <p:spPr>
          <a:xfrm>
            <a:off x="8426450" y="4554220"/>
            <a:ext cx="15233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返回最后的数据</a:t>
            </a:r>
            <a:endParaRPr lang="zh-CN" altLang="en-US" sz="1400"/>
          </a:p>
        </p:txBody>
      </p:sp>
      <p:sp>
        <p:nvSpPr>
          <p:cNvPr id="65" name="文本框 64"/>
          <p:cNvSpPr txBox="1"/>
          <p:nvPr/>
        </p:nvSpPr>
        <p:spPr>
          <a:xfrm>
            <a:off x="5877560" y="4541520"/>
            <a:ext cx="936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收到数据</a:t>
            </a:r>
            <a:endParaRPr lang="zh-CN" altLang="en-US" sz="1400"/>
          </a:p>
        </p:txBody>
      </p:sp>
      <p:sp>
        <p:nvSpPr>
          <p:cNvPr id="66" name="右箭头 65"/>
          <p:cNvSpPr/>
          <p:nvPr/>
        </p:nvSpPr>
        <p:spPr>
          <a:xfrm rot="5400000">
            <a:off x="6163310" y="4902200"/>
            <a:ext cx="34290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8" name="文本框 67"/>
          <p:cNvSpPr txBox="1"/>
          <p:nvPr/>
        </p:nvSpPr>
        <p:spPr>
          <a:xfrm>
            <a:off x="5539105" y="5177155"/>
            <a:ext cx="1281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展示完整数据</a:t>
            </a:r>
            <a:endParaRPr lang="zh-CN" altLang="en-US" sz="1400"/>
          </a:p>
        </p:txBody>
      </p:sp>
      <p:sp>
        <p:nvSpPr>
          <p:cNvPr id="69" name="右箭头 68"/>
          <p:cNvSpPr/>
          <p:nvPr/>
        </p:nvSpPr>
        <p:spPr>
          <a:xfrm rot="10800000">
            <a:off x="6992620" y="4620895"/>
            <a:ext cx="122618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右箭头 3"/>
          <p:cNvSpPr/>
          <p:nvPr/>
        </p:nvSpPr>
        <p:spPr>
          <a:xfrm>
            <a:off x="1737360" y="946785"/>
            <a:ext cx="124650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56055" y="1741805"/>
            <a:ext cx="92646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代码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073333" y="1741805"/>
            <a:ext cx="92646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Tokens</a:t>
            </a:r>
            <a:endParaRPr lang="en-US" altLang="zh-CN" sz="1400"/>
          </a:p>
        </p:txBody>
      </p:sp>
      <p:sp>
        <p:nvSpPr>
          <p:cNvPr id="7" name="文本框 6"/>
          <p:cNvSpPr txBox="1"/>
          <p:nvPr/>
        </p:nvSpPr>
        <p:spPr>
          <a:xfrm>
            <a:off x="9180513" y="1741805"/>
            <a:ext cx="92646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AST</a:t>
            </a:r>
            <a:endParaRPr lang="en-US" altLang="zh-CN" sz="1400"/>
          </a:p>
        </p:txBody>
      </p:sp>
      <p:grpSp>
        <p:nvGrpSpPr>
          <p:cNvPr id="42" name="组合 41"/>
          <p:cNvGrpSpPr/>
          <p:nvPr/>
        </p:nvGrpSpPr>
        <p:grpSpPr>
          <a:xfrm>
            <a:off x="3023235" y="3837623"/>
            <a:ext cx="1245870" cy="513715"/>
            <a:chOff x="3490" y="4192"/>
            <a:chExt cx="1962" cy="809"/>
          </a:xfrm>
        </p:grpSpPr>
        <p:sp>
          <p:nvSpPr>
            <p:cNvPr id="8" name="右箭头 7"/>
            <p:cNvSpPr/>
            <p:nvPr/>
          </p:nvSpPr>
          <p:spPr>
            <a:xfrm>
              <a:off x="3490" y="4675"/>
              <a:ext cx="1963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760" y="4192"/>
              <a:ext cx="1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词法分析</a:t>
              </a:r>
              <a:endParaRPr lang="zh-CN" altLang="en-US" sz="140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898005" y="3837623"/>
            <a:ext cx="1245870" cy="513715"/>
            <a:chOff x="9642" y="4372"/>
            <a:chExt cx="1962" cy="809"/>
          </a:xfrm>
        </p:grpSpPr>
        <p:sp>
          <p:nvSpPr>
            <p:cNvPr id="10" name="右箭头 9"/>
            <p:cNvSpPr/>
            <p:nvPr/>
          </p:nvSpPr>
          <p:spPr>
            <a:xfrm>
              <a:off x="9642" y="4855"/>
              <a:ext cx="1963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912" y="4372"/>
              <a:ext cx="1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语法分析</a:t>
              </a:r>
              <a:endParaRPr lang="zh-CN" altLang="en-US" sz="1400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134745" y="3910330"/>
            <a:ext cx="15697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const a = 2 + 1</a:t>
            </a:r>
            <a:endParaRPr lang="zh-CN" altLang="en-US"/>
          </a:p>
        </p:txBody>
      </p:sp>
      <p:graphicFrame>
        <p:nvGraphicFramePr>
          <p:cNvPr id="19" name="表格 18"/>
          <p:cNvGraphicFramePr/>
          <p:nvPr>
            <p:custDataLst>
              <p:tags r:id="rId1"/>
            </p:custDataLst>
          </p:nvPr>
        </p:nvGraphicFramePr>
        <p:xfrm>
          <a:off x="4491355" y="2774315"/>
          <a:ext cx="2090420" cy="264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210"/>
                <a:gridCol w="1045210"/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/>
                        <a:t>类型</a:t>
                      </a:r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/>
                        <a:t>值</a:t>
                      </a:r>
                      <a:endParaRPr lang="zh-CN" altLang="en-US" sz="1000"/>
                    </a:p>
                  </a:txBody>
                  <a:tcPr anchor="ctr"/>
                </a:tc>
              </a:tr>
              <a:tr h="379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Keyword</a:t>
                      </a:r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const</a:t>
                      </a:r>
                      <a:endParaRPr lang="zh-CN" altLang="en-US" sz="1000"/>
                    </a:p>
                  </a:txBody>
                  <a:tcPr anchor="ctr"/>
                </a:tc>
              </a:tr>
              <a:tr h="379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Identifier</a:t>
                      </a:r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a</a:t>
                      </a:r>
                      <a:endParaRPr lang="zh-CN" altLang="en-US" sz="1000"/>
                    </a:p>
                  </a:txBody>
                  <a:tcPr anchor="ctr"/>
                </a:tc>
              </a:tr>
              <a:tr h="379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Punctuator</a:t>
                      </a:r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=</a:t>
                      </a:r>
                      <a:endParaRPr lang="zh-CN" altLang="en-US" sz="1000"/>
                    </a:p>
                  </a:txBody>
                  <a:tcPr anchor="ctr"/>
                </a:tc>
              </a:tr>
              <a:tr h="379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Numeric</a:t>
                      </a:r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2</a:t>
                      </a:r>
                      <a:endParaRPr lang="zh-CN" altLang="en-US" sz="1000"/>
                    </a:p>
                  </a:txBody>
                  <a:tcPr anchor="ctr"/>
                </a:tc>
              </a:tr>
              <a:tr h="379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Punctuator</a:t>
                      </a:r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+</a:t>
                      </a:r>
                      <a:endParaRPr lang="zh-CN" altLang="en-US" sz="1000"/>
                    </a:p>
                  </a:txBody>
                  <a:tcPr anchor="ctr"/>
                </a:tc>
              </a:tr>
              <a:tr h="379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Numeric</a:t>
                      </a:r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1</a:t>
                      </a:r>
                      <a:endParaRPr lang="zh-CN" altLang="en-US" sz="100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8291195" y="2355215"/>
            <a:ext cx="2706370" cy="3478530"/>
            <a:chOff x="13129" y="3709"/>
            <a:chExt cx="4262" cy="5478"/>
          </a:xfrm>
        </p:grpSpPr>
        <p:sp>
          <p:nvSpPr>
            <p:cNvPr id="27" name="文本框 26"/>
            <p:cNvSpPr txBox="1"/>
            <p:nvPr/>
          </p:nvSpPr>
          <p:spPr>
            <a:xfrm>
              <a:off x="14210" y="3709"/>
              <a:ext cx="2101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Program</a:t>
              </a:r>
              <a:r>
                <a:rPr lang="en-US" altLang="zh-CN" sz="1400"/>
                <a:t> script</a:t>
              </a:r>
              <a:endParaRPr lang="en-US" altLang="zh-CN" sz="1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440" y="4958"/>
              <a:ext cx="3641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VariableDeclaration</a:t>
              </a:r>
              <a:r>
                <a:rPr lang="en-US" altLang="zh-CN" sz="1400"/>
                <a:t> const</a:t>
              </a:r>
              <a:endParaRPr lang="en-US" altLang="zh-CN" sz="140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3714" y="6207"/>
              <a:ext cx="3094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VariableDeclarator</a:t>
              </a:r>
              <a:r>
                <a:rPr lang="en-US" altLang="zh-CN" sz="1400"/>
                <a:t> a</a:t>
              </a:r>
              <a:endParaRPr lang="en-US" altLang="zh-CN" sz="140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3814" y="7456"/>
              <a:ext cx="2893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BinaryExpression</a:t>
              </a:r>
              <a:r>
                <a:rPr lang="en-US" altLang="zh-CN" sz="1400"/>
                <a:t> +</a:t>
              </a:r>
              <a:endParaRPr lang="en-US" altLang="zh-CN" sz="1400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13129" y="8705"/>
              <a:ext cx="4263" cy="482"/>
              <a:chOff x="10502" y="8690"/>
              <a:chExt cx="4263" cy="482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10502" y="8690"/>
                <a:ext cx="1654" cy="4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/>
                  <a:t>Literal</a:t>
                </a:r>
                <a:r>
                  <a:rPr lang="en-US" altLang="zh-CN" sz="1400"/>
                  <a:t> 2</a:t>
                </a:r>
                <a:endParaRPr lang="en-US" altLang="zh-CN" sz="1400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3177" y="8690"/>
                <a:ext cx="1588" cy="4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sz="1400"/>
                  <a:t>Literal</a:t>
                </a:r>
                <a:r>
                  <a:rPr lang="en-US" sz="1400"/>
                  <a:t> 1</a:t>
                </a:r>
                <a:endParaRPr lang="en-US" sz="1400"/>
              </a:p>
            </p:txBody>
          </p:sp>
        </p:grpSp>
        <p:cxnSp>
          <p:nvCxnSpPr>
            <p:cNvPr id="34" name="直接箭头连接符 33"/>
            <p:cNvCxnSpPr/>
            <p:nvPr/>
          </p:nvCxnSpPr>
          <p:spPr>
            <a:xfrm>
              <a:off x="15261" y="4192"/>
              <a:ext cx="0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15260" y="5441"/>
              <a:ext cx="0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15261" y="6690"/>
              <a:ext cx="0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H="1">
              <a:off x="13956" y="7939"/>
              <a:ext cx="1304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30" idx="2"/>
              <a:endCxn id="32" idx="0"/>
            </p:cNvCxnSpPr>
            <p:nvPr/>
          </p:nvCxnSpPr>
          <p:spPr>
            <a:xfrm>
              <a:off x="15261" y="7939"/>
              <a:ext cx="1337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94373" y="1361440"/>
            <a:ext cx="92646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代码</a:t>
            </a:r>
            <a:endParaRPr lang="zh-CN" altLang="en-US" sz="1400"/>
          </a:p>
        </p:txBody>
      </p:sp>
      <p:grpSp>
        <p:nvGrpSpPr>
          <p:cNvPr id="42" name="组合 41"/>
          <p:cNvGrpSpPr/>
          <p:nvPr/>
        </p:nvGrpSpPr>
        <p:grpSpPr>
          <a:xfrm>
            <a:off x="1915160" y="3177223"/>
            <a:ext cx="1246505" cy="513715"/>
            <a:chOff x="3490" y="4192"/>
            <a:chExt cx="1963" cy="809"/>
          </a:xfrm>
        </p:grpSpPr>
        <p:sp>
          <p:nvSpPr>
            <p:cNvPr id="8" name="右箭头 7"/>
            <p:cNvSpPr/>
            <p:nvPr/>
          </p:nvSpPr>
          <p:spPr>
            <a:xfrm>
              <a:off x="3490" y="4675"/>
              <a:ext cx="1963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019" y="4192"/>
              <a:ext cx="90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解析</a:t>
              </a:r>
              <a:endParaRPr lang="zh-CN" altLang="en-US" sz="140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163185" y="3177223"/>
            <a:ext cx="1246505" cy="513715"/>
            <a:chOff x="9642" y="4372"/>
            <a:chExt cx="1963" cy="809"/>
          </a:xfrm>
        </p:grpSpPr>
        <p:sp>
          <p:nvSpPr>
            <p:cNvPr id="10" name="右箭头 9"/>
            <p:cNvSpPr/>
            <p:nvPr/>
          </p:nvSpPr>
          <p:spPr>
            <a:xfrm>
              <a:off x="9642" y="4855"/>
              <a:ext cx="1963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829" y="4372"/>
              <a:ext cx="159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遍历</a:t>
              </a:r>
              <a:r>
                <a:rPr lang="en-US" altLang="zh-CN" sz="1400"/>
                <a:t>+</a:t>
              </a:r>
              <a:r>
                <a:rPr lang="zh-CN" altLang="en-US" sz="1400"/>
                <a:t>修改</a:t>
              </a:r>
              <a:endParaRPr lang="zh-CN" altLang="en-US" sz="1400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45440" y="3111500"/>
            <a:ext cx="15697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let</a:t>
            </a:r>
            <a:r>
              <a:rPr lang="zh-CN" altLang="en-US"/>
              <a:t> a = 2 + 1</a:t>
            </a:r>
            <a:endParaRPr lang="en-US" altLang="zh-CN"/>
          </a:p>
          <a:p>
            <a:r>
              <a:rPr lang="en-US" altLang="zh-CN"/>
              <a:t>console.log(a)</a:t>
            </a:r>
            <a:endParaRPr lang="en-US" altLang="zh-CN"/>
          </a:p>
        </p:txBody>
      </p:sp>
      <p:grpSp>
        <p:nvGrpSpPr>
          <p:cNvPr id="9" name="组合 8"/>
          <p:cNvGrpSpPr/>
          <p:nvPr/>
        </p:nvGrpSpPr>
        <p:grpSpPr>
          <a:xfrm>
            <a:off x="3039745" y="2079625"/>
            <a:ext cx="2336165" cy="2708910"/>
            <a:chOff x="6046" y="2638"/>
            <a:chExt cx="3679" cy="4266"/>
          </a:xfrm>
        </p:grpSpPr>
        <p:sp>
          <p:nvSpPr>
            <p:cNvPr id="27" name="文本框 26"/>
            <p:cNvSpPr txBox="1"/>
            <p:nvPr/>
          </p:nvSpPr>
          <p:spPr>
            <a:xfrm>
              <a:off x="6873" y="2638"/>
              <a:ext cx="1940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Program</a:t>
              </a:r>
              <a:endParaRPr lang="en-US" altLang="zh-CN" sz="1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872" y="3924"/>
              <a:ext cx="1942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......</a:t>
              </a:r>
              <a:endParaRPr lang="en-US" altLang="zh-CN" sz="140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872" y="5173"/>
              <a:ext cx="1943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sym typeface="+mn-ea"/>
                </a:rPr>
                <a:t>......</a:t>
              </a:r>
              <a:endParaRPr lang="en-US" altLang="zh-CN" sz="140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046" y="6422"/>
              <a:ext cx="1654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sym typeface="+mn-ea"/>
                </a:rPr>
                <a:t>......</a:t>
              </a:r>
              <a:endParaRPr lang="en-US" altLang="zh-CN" sz="140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137" y="6422"/>
              <a:ext cx="1588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sym typeface="+mn-ea"/>
                </a:rPr>
                <a:t>......</a:t>
              </a:r>
              <a:endParaRPr lang="en-US" sz="1400"/>
            </a:p>
          </p:txBody>
        </p:sp>
        <p:cxnSp>
          <p:nvCxnSpPr>
            <p:cNvPr id="34" name="直接箭头连接符 33"/>
            <p:cNvCxnSpPr/>
            <p:nvPr/>
          </p:nvCxnSpPr>
          <p:spPr>
            <a:xfrm>
              <a:off x="7875" y="3121"/>
              <a:ext cx="0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>
              <a:endCxn id="31" idx="0"/>
            </p:cNvCxnSpPr>
            <p:nvPr/>
          </p:nvCxnSpPr>
          <p:spPr>
            <a:xfrm flipH="1">
              <a:off x="6873" y="5656"/>
              <a:ext cx="991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30" idx="2"/>
              <a:endCxn id="32" idx="0"/>
            </p:cNvCxnSpPr>
            <p:nvPr/>
          </p:nvCxnSpPr>
          <p:spPr>
            <a:xfrm>
              <a:off x="7844" y="5656"/>
              <a:ext cx="1087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箭头连接符 2"/>
            <p:cNvCxnSpPr/>
            <p:nvPr/>
          </p:nvCxnSpPr>
          <p:spPr>
            <a:xfrm>
              <a:off x="7874" y="4407"/>
              <a:ext cx="0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3456305" y="1361440"/>
            <a:ext cx="1503680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AST </a:t>
            </a:r>
            <a:r>
              <a:rPr lang="zh-CN" altLang="en-US" sz="1400"/>
              <a:t>抽象语法树</a:t>
            </a:r>
            <a:endParaRPr lang="zh-CN" altLang="en-US" sz="1400"/>
          </a:p>
        </p:txBody>
      </p:sp>
      <p:grpSp>
        <p:nvGrpSpPr>
          <p:cNvPr id="18" name="组合 17"/>
          <p:cNvGrpSpPr/>
          <p:nvPr/>
        </p:nvGrpSpPr>
        <p:grpSpPr>
          <a:xfrm>
            <a:off x="6282055" y="2079625"/>
            <a:ext cx="2336165" cy="2708910"/>
            <a:chOff x="6046" y="2638"/>
            <a:chExt cx="3679" cy="4266"/>
          </a:xfrm>
        </p:grpSpPr>
        <p:sp>
          <p:nvSpPr>
            <p:cNvPr id="20" name="文本框 19"/>
            <p:cNvSpPr txBox="1"/>
            <p:nvPr/>
          </p:nvSpPr>
          <p:spPr>
            <a:xfrm>
              <a:off x="6873" y="2638"/>
              <a:ext cx="1940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Program</a:t>
              </a:r>
              <a:endParaRPr lang="en-US" altLang="zh-CN" sz="14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872" y="3924"/>
              <a:ext cx="1942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/>
                <a:t>......</a:t>
              </a:r>
              <a:endParaRPr lang="en-US" altLang="zh-CN" sz="140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872" y="5173"/>
              <a:ext cx="1943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sym typeface="+mn-ea"/>
                </a:rPr>
                <a:t>......</a:t>
              </a:r>
              <a:endParaRPr lang="en-US" altLang="zh-CN" sz="140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046" y="6422"/>
              <a:ext cx="1654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sym typeface="+mn-ea"/>
                </a:rPr>
                <a:t>......</a:t>
              </a:r>
              <a:endParaRPr lang="en-US" altLang="zh-CN" sz="140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137" y="6422"/>
              <a:ext cx="1588" cy="4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sym typeface="+mn-ea"/>
                </a:rPr>
                <a:t>......</a:t>
              </a:r>
              <a:endParaRPr lang="en-US" sz="1400"/>
            </a:p>
          </p:txBody>
        </p:sp>
        <p:cxnSp>
          <p:nvCxnSpPr>
            <p:cNvPr id="26" name="直接箭头连接符 25"/>
            <p:cNvCxnSpPr/>
            <p:nvPr/>
          </p:nvCxnSpPr>
          <p:spPr>
            <a:xfrm>
              <a:off x="7875" y="3121"/>
              <a:ext cx="0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endCxn id="24" idx="0"/>
            </p:cNvCxnSpPr>
            <p:nvPr/>
          </p:nvCxnSpPr>
          <p:spPr>
            <a:xfrm flipH="1">
              <a:off x="6873" y="5656"/>
              <a:ext cx="991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23" idx="2"/>
              <a:endCxn id="25" idx="0"/>
            </p:cNvCxnSpPr>
            <p:nvPr/>
          </p:nvCxnSpPr>
          <p:spPr>
            <a:xfrm>
              <a:off x="7844" y="5656"/>
              <a:ext cx="1087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>
              <a:off x="7874" y="4407"/>
              <a:ext cx="0" cy="76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44"/>
          <p:cNvSpPr txBox="1"/>
          <p:nvPr/>
        </p:nvSpPr>
        <p:spPr>
          <a:xfrm>
            <a:off x="6477635" y="1361440"/>
            <a:ext cx="194627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AST </a:t>
            </a:r>
            <a:r>
              <a:rPr lang="zh-CN" altLang="en-US" sz="1400"/>
              <a:t>抽象语法树（新）</a:t>
            </a:r>
            <a:endParaRPr lang="en-US" altLang="zh-CN" sz="1400"/>
          </a:p>
        </p:txBody>
      </p:sp>
      <p:grpSp>
        <p:nvGrpSpPr>
          <p:cNvPr id="48" name="组合 47"/>
          <p:cNvGrpSpPr/>
          <p:nvPr/>
        </p:nvGrpSpPr>
        <p:grpSpPr>
          <a:xfrm>
            <a:off x="8475980" y="3177223"/>
            <a:ext cx="1246505" cy="513715"/>
            <a:chOff x="9642" y="4372"/>
            <a:chExt cx="1963" cy="809"/>
          </a:xfrm>
        </p:grpSpPr>
        <p:sp>
          <p:nvSpPr>
            <p:cNvPr id="49" name="右箭头 48"/>
            <p:cNvSpPr/>
            <p:nvPr/>
          </p:nvSpPr>
          <p:spPr>
            <a:xfrm>
              <a:off x="9642" y="4855"/>
              <a:ext cx="1963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0191" y="4372"/>
              <a:ext cx="86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生成</a:t>
              </a:r>
              <a:endParaRPr lang="zh-CN" altLang="en-US" sz="1400"/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9865995" y="3111500"/>
            <a:ext cx="15697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const</a:t>
            </a:r>
            <a:r>
              <a:rPr lang="zh-CN" altLang="en-US"/>
              <a:t> a = 2 + 1</a:t>
            </a:r>
            <a:endParaRPr lang="en-US" altLang="zh-CN"/>
          </a:p>
          <a:p>
            <a:r>
              <a:rPr lang="en-US" altLang="zh-CN"/>
              <a:t>console.log(a)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10032365" y="1361440"/>
            <a:ext cx="123634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代码（新）</a:t>
            </a:r>
            <a:endParaRPr lang="en-US" altLang="zh-CN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35685" y="1788160"/>
            <a:ext cx="1244600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index2</a:t>
            </a:r>
            <a:r>
              <a:rPr lang="zh-CN" altLang="en-US"/>
              <a:t>.js</a:t>
            </a:r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2543175" y="1419860"/>
            <a:ext cx="2014220" cy="655955"/>
            <a:chOff x="4425" y="3347"/>
            <a:chExt cx="3172" cy="1033"/>
          </a:xfrm>
        </p:grpSpPr>
        <p:sp>
          <p:nvSpPr>
            <p:cNvPr id="7" name="右箭头 6"/>
            <p:cNvSpPr/>
            <p:nvPr/>
          </p:nvSpPr>
          <p:spPr>
            <a:xfrm>
              <a:off x="4425" y="4054"/>
              <a:ext cx="3172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485" y="3347"/>
              <a:ext cx="10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生成</a:t>
              </a:r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997450" y="1564005"/>
            <a:ext cx="1244600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project1</a:t>
            </a:r>
            <a:r>
              <a:rPr lang="zh-CN" altLang="en-US"/>
              <a:t>.js</a:t>
            </a:r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6773545" y="1494473"/>
            <a:ext cx="2014220" cy="644525"/>
            <a:chOff x="10509" y="3307"/>
            <a:chExt cx="3172" cy="1015"/>
          </a:xfrm>
        </p:grpSpPr>
        <p:sp>
          <p:nvSpPr>
            <p:cNvPr id="4" name="右箭头 3"/>
            <p:cNvSpPr/>
            <p:nvPr/>
          </p:nvSpPr>
          <p:spPr>
            <a:xfrm>
              <a:off x="10509" y="3996"/>
              <a:ext cx="3172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1547" y="3307"/>
              <a:ext cx="10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生成</a:t>
              </a:r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9041765" y="1604645"/>
            <a:ext cx="1244600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main</a:t>
            </a:r>
            <a:r>
              <a:rPr lang="zh-CN" altLang="en-US"/>
              <a:t>.js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997450" y="4003675"/>
            <a:ext cx="1244600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index</a:t>
            </a:r>
            <a:r>
              <a:rPr lang="zh-CN" altLang="en-US"/>
              <a:t>.js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34560" y="2156460"/>
            <a:ext cx="1771015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project1</a:t>
            </a:r>
            <a:r>
              <a:rPr lang="zh-CN" altLang="en-US"/>
              <a:t>.js</a:t>
            </a:r>
            <a:r>
              <a:rPr lang="en-US" altLang="zh-CN"/>
              <a:t>.map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8959850" y="2219960"/>
            <a:ext cx="1459230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main</a:t>
            </a:r>
            <a:r>
              <a:rPr lang="zh-CN" altLang="en-US"/>
              <a:t>.js</a:t>
            </a:r>
            <a:r>
              <a:rPr lang="en-US" altLang="zh-CN"/>
              <a:t>.map</a:t>
            </a:r>
            <a:endParaRPr lang="en-US" altLang="zh-CN"/>
          </a:p>
        </p:txBody>
      </p:sp>
      <p:grpSp>
        <p:nvGrpSpPr>
          <p:cNvPr id="14" name="组合 13"/>
          <p:cNvGrpSpPr/>
          <p:nvPr/>
        </p:nvGrpSpPr>
        <p:grpSpPr>
          <a:xfrm rot="19860000">
            <a:off x="6428105" y="2990850"/>
            <a:ext cx="2675890" cy="644525"/>
            <a:chOff x="10509" y="3307"/>
            <a:chExt cx="3172" cy="1015"/>
          </a:xfrm>
        </p:grpSpPr>
        <p:sp>
          <p:nvSpPr>
            <p:cNvPr id="15" name="右箭头 14"/>
            <p:cNvSpPr/>
            <p:nvPr/>
          </p:nvSpPr>
          <p:spPr>
            <a:xfrm>
              <a:off x="10509" y="3996"/>
              <a:ext cx="3172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1547" y="3307"/>
              <a:ext cx="10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生成</a:t>
              </a:r>
              <a:endParaRPr lang="zh-CN" altLang="en-US"/>
            </a:p>
          </p:txBody>
        </p:sp>
      </p:grpSp>
      <p:cxnSp>
        <p:nvCxnSpPr>
          <p:cNvPr id="18" name="曲线连接符 17"/>
          <p:cNvCxnSpPr/>
          <p:nvPr/>
        </p:nvCxnSpPr>
        <p:spPr>
          <a:xfrm rot="10800000">
            <a:off x="1657350" y="1788160"/>
            <a:ext cx="8761095" cy="612140"/>
          </a:xfrm>
          <a:prstGeom prst="curvedConnector4">
            <a:avLst>
              <a:gd name="adj1" fmla="val -1529"/>
              <a:gd name="adj2" fmla="val 31462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曲线连接符 18"/>
          <p:cNvCxnSpPr>
            <a:stCxn id="10" idx="3"/>
            <a:endCxn id="25" idx="2"/>
          </p:cNvCxnSpPr>
          <p:nvPr/>
        </p:nvCxnSpPr>
        <p:spPr>
          <a:xfrm flipH="1">
            <a:off x="5619750" y="2404110"/>
            <a:ext cx="4799330" cy="1967865"/>
          </a:xfrm>
          <a:prstGeom prst="curvedConnector4">
            <a:avLst>
              <a:gd name="adj1" fmla="val -4962"/>
              <a:gd name="adj2" fmla="val 11210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178550" y="1533525"/>
            <a:ext cx="1244600" cy="64516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生成代码</a:t>
            </a:r>
            <a:endParaRPr lang="en-US" altLang="zh-CN"/>
          </a:p>
          <a:p>
            <a:pPr algn="ctr"/>
            <a:r>
              <a:rPr lang="en-US" altLang="zh-CN"/>
              <a:t>main</a:t>
            </a:r>
            <a:r>
              <a:rPr lang="zh-CN" altLang="en-US"/>
              <a:t>.js</a:t>
            </a:r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3529965" y="1943735"/>
            <a:ext cx="2014220" cy="655955"/>
            <a:chOff x="4425" y="3347"/>
            <a:chExt cx="3172" cy="1033"/>
          </a:xfrm>
        </p:grpSpPr>
        <p:sp>
          <p:nvSpPr>
            <p:cNvPr id="7" name="右箭头 6"/>
            <p:cNvSpPr/>
            <p:nvPr/>
          </p:nvSpPr>
          <p:spPr>
            <a:xfrm>
              <a:off x="4425" y="4054"/>
              <a:ext cx="3172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485" y="3347"/>
              <a:ext cx="10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生成</a:t>
              </a:r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178550" y="2517140"/>
            <a:ext cx="124460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44</a:t>
            </a:r>
            <a:endParaRPr lang="en-US" altLang="zh-CN"/>
          </a:p>
          <a:p>
            <a:pPr algn="ctr"/>
            <a:r>
              <a:rPr lang="en-US" altLang="zh-CN"/>
              <a:t>eval</a:t>
            </a:r>
            <a:r>
              <a:rPr lang="zh-CN" altLang="en-US"/>
              <a:t>中代码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965325" y="2010410"/>
            <a:ext cx="124460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index</a:t>
            </a:r>
            <a:r>
              <a:rPr lang="zh-CN" altLang="en-US"/>
              <a:t>.js</a:t>
            </a:r>
            <a:endParaRPr lang="zh-CN" altLang="en-US"/>
          </a:p>
          <a:p>
            <a:pPr algn="ctr"/>
            <a:r>
              <a:rPr lang="zh-CN" altLang="en-US"/>
              <a:t>源代码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769995" y="4531995"/>
            <a:ext cx="1869440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SoureceMap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863590" y="1331595"/>
            <a:ext cx="1967230" cy="233299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 rot="14160000">
            <a:off x="2308860" y="3444875"/>
            <a:ext cx="201422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 rot="7440000">
            <a:off x="5165725" y="3646805"/>
            <a:ext cx="1495425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3080385" y="1939925"/>
            <a:ext cx="2014220" cy="655955"/>
            <a:chOff x="4425" y="3347"/>
            <a:chExt cx="3172" cy="1033"/>
          </a:xfrm>
        </p:grpSpPr>
        <p:sp>
          <p:nvSpPr>
            <p:cNvPr id="7" name="右箭头 6"/>
            <p:cNvSpPr/>
            <p:nvPr/>
          </p:nvSpPr>
          <p:spPr>
            <a:xfrm>
              <a:off x="4425" y="4054"/>
              <a:ext cx="3172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485" y="3347"/>
              <a:ext cx="10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编译</a:t>
              </a:r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440815" y="2006600"/>
            <a:ext cx="124460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index</a:t>
            </a:r>
            <a:r>
              <a:rPr lang="zh-CN" altLang="en-US"/>
              <a:t>.</a:t>
            </a:r>
            <a:r>
              <a:rPr lang="en-US" altLang="zh-CN"/>
              <a:t>scss</a:t>
            </a:r>
            <a:endParaRPr lang="en-US" altLang="zh-CN"/>
          </a:p>
          <a:p>
            <a:pPr algn="ctr"/>
            <a:r>
              <a:rPr lang="en-US" altLang="zh-CN"/>
              <a:t>SCSS</a:t>
            </a:r>
            <a:r>
              <a:rPr lang="zh-CN" altLang="en-US"/>
              <a:t>文件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42285" y="3081655"/>
            <a:ext cx="2014220" cy="655955"/>
            <a:chOff x="4425" y="3347"/>
            <a:chExt cx="3172" cy="1033"/>
          </a:xfrm>
        </p:grpSpPr>
        <p:sp>
          <p:nvSpPr>
            <p:cNvPr id="4" name="右箭头 3"/>
            <p:cNvSpPr/>
            <p:nvPr/>
          </p:nvSpPr>
          <p:spPr>
            <a:xfrm>
              <a:off x="4425" y="4054"/>
              <a:ext cx="3172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485" y="3347"/>
              <a:ext cx="10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编译</a:t>
              </a:r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402715" y="3148330"/>
            <a:ext cx="124460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index</a:t>
            </a:r>
            <a:r>
              <a:rPr lang="zh-CN" altLang="en-US"/>
              <a:t>.</a:t>
            </a:r>
            <a:r>
              <a:rPr lang="en-US" altLang="zh-CN"/>
              <a:t>less</a:t>
            </a:r>
            <a:endParaRPr lang="en-US" altLang="zh-CN"/>
          </a:p>
          <a:p>
            <a:pPr algn="ctr"/>
            <a:r>
              <a:rPr lang="en-US" altLang="zh-CN"/>
              <a:t>Less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21960" y="2595880"/>
            <a:ext cx="1244600" cy="9220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index</a:t>
            </a:r>
            <a:r>
              <a:rPr lang="zh-CN" altLang="en-US"/>
              <a:t>.</a:t>
            </a:r>
            <a:r>
              <a:rPr lang="en-US" altLang="zh-CN"/>
              <a:t>css</a:t>
            </a:r>
            <a:endParaRPr lang="en-US" altLang="zh-CN"/>
          </a:p>
          <a:p>
            <a:pPr algn="ctr"/>
            <a:r>
              <a:rPr lang="en-US" altLang="zh-CN"/>
              <a:t>CSS</a:t>
            </a:r>
            <a:r>
              <a:rPr lang="zh-CN" altLang="en-US"/>
              <a:t>文件</a:t>
            </a:r>
            <a:endParaRPr lang="zh-CN" altLang="en-US"/>
          </a:p>
          <a:p>
            <a:pPr algn="ctr"/>
            <a:r>
              <a:rPr lang="zh-CN" altLang="en-US"/>
              <a:t>中间产物</a:t>
            </a:r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7097395" y="2699385"/>
            <a:ext cx="2014220" cy="655955"/>
            <a:chOff x="4425" y="3347"/>
            <a:chExt cx="3172" cy="1033"/>
          </a:xfrm>
        </p:grpSpPr>
        <p:sp>
          <p:nvSpPr>
            <p:cNvPr id="12" name="右箭头 11"/>
            <p:cNvSpPr/>
            <p:nvPr/>
          </p:nvSpPr>
          <p:spPr>
            <a:xfrm>
              <a:off x="4425" y="4054"/>
              <a:ext cx="3172" cy="32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485" y="3347"/>
              <a:ext cx="10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编译</a:t>
              </a:r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9442450" y="2595880"/>
            <a:ext cx="1244600" cy="9220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ym typeface="+mn-ea"/>
              </a:rPr>
              <a:t>index</a:t>
            </a:r>
            <a:r>
              <a:rPr lang="zh-CN" altLang="en-US">
                <a:sym typeface="+mn-ea"/>
              </a:rPr>
              <a:t>.</a:t>
            </a:r>
            <a:r>
              <a:rPr lang="en-US" altLang="zh-CN">
                <a:sym typeface="+mn-ea"/>
              </a:rPr>
              <a:t>css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CSS</a:t>
            </a:r>
            <a:r>
              <a:rPr lang="zh-CN" altLang="en-US">
                <a:sym typeface="+mn-ea"/>
              </a:rPr>
              <a:t>文件</a:t>
            </a:r>
            <a:endParaRPr lang="zh-CN" altLang="en-US">
              <a:sym typeface="+mn-ea"/>
            </a:endParaRPr>
          </a:p>
          <a:p>
            <a:pPr algn="ctr"/>
            <a:r>
              <a:rPr lang="zh-CN" altLang="en-US"/>
              <a:t>最终产物</a:t>
            </a:r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1144270" y="1524635"/>
            <a:ext cx="4145280" cy="266636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477135" y="4502150"/>
            <a:ext cx="1479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CSS</a:t>
            </a:r>
            <a:r>
              <a:rPr lang="zh-CN" altLang="en-US"/>
              <a:t>预处理器</a:t>
            </a:r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932930" y="1524635"/>
            <a:ext cx="3985895" cy="266636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265795" y="4502150"/>
            <a:ext cx="1479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CSS</a:t>
            </a:r>
            <a:r>
              <a:rPr lang="zh-CN" altLang="en-US"/>
              <a:t>后处理器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17566" y="489267"/>
            <a:ext cx="92646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用户</a:t>
            </a:r>
            <a:endParaRPr lang="zh-CN" altLang="en-US" sz="1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423535" y="489267"/>
            <a:ext cx="136588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Agent</a:t>
            </a:r>
            <a:r>
              <a:rPr lang="zh-CN" altLang="en-US" sz="1400" dirty="0"/>
              <a:t>软件</a:t>
            </a:r>
            <a:endParaRPr lang="zh-CN" altLang="en-US" sz="1400" dirty="0"/>
          </a:p>
        </p:txBody>
      </p:sp>
      <p:sp>
        <p:nvSpPr>
          <p:cNvPr id="17" name="右箭头 16"/>
          <p:cNvSpPr/>
          <p:nvPr/>
        </p:nvSpPr>
        <p:spPr>
          <a:xfrm rot="10800000">
            <a:off x="6264566" y="2893213"/>
            <a:ext cx="3436762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6863224" y="929311"/>
            <a:ext cx="2239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提供能力列表，例如访问网页</a:t>
            </a:r>
            <a:r>
              <a:rPr lang="en-US" altLang="zh-CN" sz="1200" dirty="0"/>
              <a:t>/</a:t>
            </a:r>
            <a:r>
              <a:rPr lang="zh-CN" altLang="en-US" sz="1200" dirty="0"/>
              <a:t>编辑文件</a:t>
            </a:r>
            <a:r>
              <a:rPr lang="en-US" altLang="zh-CN" sz="1200" dirty="0"/>
              <a:t>/</a:t>
            </a:r>
            <a:r>
              <a:rPr lang="zh-CN" altLang="en-US" sz="1200" dirty="0"/>
              <a:t>执行命令等</a:t>
            </a:r>
            <a:endParaRPr lang="zh-CN" altLang="en-US" sz="1200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2380798" y="934720"/>
            <a:ext cx="0" cy="433832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6106477" y="934720"/>
            <a:ext cx="0" cy="433832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985594" y="3209938"/>
            <a:ext cx="875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访问网页</a:t>
            </a:r>
            <a:endParaRPr lang="zh-CN" altLang="en-US" sz="1200" dirty="0"/>
          </a:p>
        </p:txBody>
      </p:sp>
      <p:sp>
        <p:nvSpPr>
          <p:cNvPr id="27" name="右箭头 26"/>
          <p:cNvSpPr/>
          <p:nvPr/>
        </p:nvSpPr>
        <p:spPr>
          <a:xfrm rot="5400000">
            <a:off x="5474887" y="3290069"/>
            <a:ext cx="751578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右箭头 3"/>
          <p:cNvSpPr/>
          <p:nvPr/>
        </p:nvSpPr>
        <p:spPr>
          <a:xfrm>
            <a:off x="2538911" y="2120308"/>
            <a:ext cx="3367219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7" name="直接连接符 6"/>
          <p:cNvCxnSpPr/>
          <p:nvPr/>
        </p:nvCxnSpPr>
        <p:spPr>
          <a:xfrm>
            <a:off x="9897110" y="934720"/>
            <a:ext cx="0" cy="449072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214168" y="489267"/>
            <a:ext cx="136588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大模型</a:t>
            </a:r>
            <a:endParaRPr lang="zh-CN" altLang="en-US" sz="1400" dirty="0"/>
          </a:p>
        </p:txBody>
      </p:sp>
      <p:sp>
        <p:nvSpPr>
          <p:cNvPr id="9" name="右箭头 3"/>
          <p:cNvSpPr/>
          <p:nvPr/>
        </p:nvSpPr>
        <p:spPr>
          <a:xfrm>
            <a:off x="6264565" y="1347341"/>
            <a:ext cx="3436764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3344166" y="1837882"/>
            <a:ext cx="1733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用户要求完成某个任务</a:t>
            </a:r>
            <a:endParaRPr lang="zh-CN" altLang="en-US" sz="1200" dirty="0"/>
          </a:p>
        </p:txBody>
      </p:sp>
      <p:sp>
        <p:nvSpPr>
          <p:cNvPr id="16" name="文本框 15"/>
          <p:cNvSpPr txBox="1"/>
          <p:nvPr/>
        </p:nvSpPr>
        <p:spPr>
          <a:xfrm>
            <a:off x="7172579" y="1822235"/>
            <a:ext cx="1620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将要求转发给大模型</a:t>
            </a:r>
            <a:endParaRPr lang="zh-CN" altLang="en-US" sz="12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512277" y="2622788"/>
            <a:ext cx="2941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要求</a:t>
            </a:r>
            <a:r>
              <a:rPr lang="en-US" altLang="zh-CN" sz="1200" dirty="0"/>
              <a:t>Agent</a:t>
            </a:r>
            <a:r>
              <a:rPr lang="zh-CN" altLang="en-US" sz="1200" dirty="0"/>
              <a:t>调用某些能力，例如访问网页</a:t>
            </a:r>
            <a:endParaRPr lang="zh-CN" altLang="en-US" sz="1200" dirty="0"/>
          </a:p>
        </p:txBody>
      </p:sp>
      <p:sp>
        <p:nvSpPr>
          <p:cNvPr id="20" name="文本框 19"/>
          <p:cNvSpPr txBox="1"/>
          <p:nvPr/>
        </p:nvSpPr>
        <p:spPr>
          <a:xfrm>
            <a:off x="10173335" y="2466547"/>
            <a:ext cx="641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思考</a:t>
            </a:r>
            <a:endParaRPr lang="zh-CN" altLang="en-US" sz="1200" dirty="0"/>
          </a:p>
        </p:txBody>
      </p:sp>
      <p:sp>
        <p:nvSpPr>
          <p:cNvPr id="22" name="右箭头 26"/>
          <p:cNvSpPr/>
          <p:nvPr/>
        </p:nvSpPr>
        <p:spPr>
          <a:xfrm rot="5400000">
            <a:off x="9783336" y="2543740"/>
            <a:ext cx="647582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8" name="文本框 27"/>
          <p:cNvSpPr txBox="1"/>
          <p:nvPr/>
        </p:nvSpPr>
        <p:spPr>
          <a:xfrm>
            <a:off x="7108955" y="3380695"/>
            <a:ext cx="1785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网页内容返回给大模型</a:t>
            </a:r>
            <a:endParaRPr lang="zh-CN" altLang="en-US" sz="1200" dirty="0"/>
          </a:p>
        </p:txBody>
      </p:sp>
      <p:sp>
        <p:nvSpPr>
          <p:cNvPr id="30" name="文本框 29"/>
          <p:cNvSpPr txBox="1"/>
          <p:nvPr/>
        </p:nvSpPr>
        <p:spPr>
          <a:xfrm>
            <a:off x="10207943" y="4020511"/>
            <a:ext cx="641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思考</a:t>
            </a:r>
            <a:endParaRPr lang="zh-CN" altLang="en-US" sz="1200" dirty="0"/>
          </a:p>
        </p:txBody>
      </p:sp>
      <p:sp>
        <p:nvSpPr>
          <p:cNvPr id="44" name="右箭头 26"/>
          <p:cNvSpPr/>
          <p:nvPr/>
        </p:nvSpPr>
        <p:spPr>
          <a:xfrm rot="5400000">
            <a:off x="9707813" y="4105940"/>
            <a:ext cx="770158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7" name="文本框 56"/>
          <p:cNvSpPr txBox="1"/>
          <p:nvPr/>
        </p:nvSpPr>
        <p:spPr>
          <a:xfrm>
            <a:off x="7332785" y="4281338"/>
            <a:ext cx="1201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给出最后结果</a:t>
            </a:r>
            <a:endParaRPr lang="zh-CN" altLang="en-US" sz="1200" dirty="0"/>
          </a:p>
        </p:txBody>
      </p:sp>
      <p:sp>
        <p:nvSpPr>
          <p:cNvPr id="59" name="右箭头 16"/>
          <p:cNvSpPr/>
          <p:nvPr/>
        </p:nvSpPr>
        <p:spPr>
          <a:xfrm rot="10800000">
            <a:off x="2533095" y="4531122"/>
            <a:ext cx="3388360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0" name="文本框 59"/>
          <p:cNvSpPr txBox="1"/>
          <p:nvPr/>
        </p:nvSpPr>
        <p:spPr>
          <a:xfrm>
            <a:off x="3607106" y="4281338"/>
            <a:ext cx="1410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返回结果给用户</a:t>
            </a:r>
            <a:endParaRPr lang="zh-CN" altLang="en-US" sz="1200" dirty="0"/>
          </a:p>
        </p:txBody>
      </p:sp>
      <p:sp>
        <p:nvSpPr>
          <p:cNvPr id="75" name="右箭头 3"/>
          <p:cNvSpPr/>
          <p:nvPr/>
        </p:nvSpPr>
        <p:spPr>
          <a:xfrm>
            <a:off x="6264565" y="2116444"/>
            <a:ext cx="3436764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6" name="右箭头 3"/>
          <p:cNvSpPr/>
          <p:nvPr/>
        </p:nvSpPr>
        <p:spPr>
          <a:xfrm>
            <a:off x="6264565" y="3647315"/>
            <a:ext cx="3436764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7" name="右箭头 16"/>
          <p:cNvSpPr/>
          <p:nvPr/>
        </p:nvSpPr>
        <p:spPr>
          <a:xfrm rot="10800000">
            <a:off x="6264566" y="4531122"/>
            <a:ext cx="3436762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39880" y="489267"/>
            <a:ext cx="92646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开发者</a:t>
            </a:r>
            <a:endParaRPr lang="zh-CN" altLang="en-US" sz="1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3962211" y="479696"/>
            <a:ext cx="136588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本地服务</a:t>
            </a:r>
            <a:endParaRPr lang="zh-CN" altLang="en-US" sz="1400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1303112" y="934720"/>
            <a:ext cx="0" cy="549329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645153" y="925149"/>
            <a:ext cx="0" cy="549329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2845478" y="1574747"/>
            <a:ext cx="1647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打包代码，生成结果启动本地服务</a:t>
            </a:r>
            <a:endParaRPr lang="zh-CN" altLang="en-US" sz="1200" dirty="0"/>
          </a:p>
        </p:txBody>
      </p:sp>
      <p:sp>
        <p:nvSpPr>
          <p:cNvPr id="27" name="右箭头 26"/>
          <p:cNvSpPr/>
          <p:nvPr/>
        </p:nvSpPr>
        <p:spPr>
          <a:xfrm rot="5400000">
            <a:off x="4067470" y="1697464"/>
            <a:ext cx="810100" cy="17345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右箭头 3"/>
          <p:cNvSpPr/>
          <p:nvPr/>
        </p:nvSpPr>
        <p:spPr>
          <a:xfrm>
            <a:off x="1498893" y="1068343"/>
            <a:ext cx="2993961" cy="21911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7" name="直接连接符 6"/>
          <p:cNvCxnSpPr/>
          <p:nvPr/>
        </p:nvCxnSpPr>
        <p:spPr>
          <a:xfrm>
            <a:off x="9897110" y="934720"/>
            <a:ext cx="0" cy="5564051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214168" y="489267"/>
            <a:ext cx="1365885" cy="3067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浏览器端</a:t>
            </a:r>
            <a:endParaRPr lang="zh-CN" altLang="en-US" sz="1400" dirty="0"/>
          </a:p>
        </p:txBody>
      </p:sp>
      <p:sp>
        <p:nvSpPr>
          <p:cNvPr id="9" name="右箭头 3"/>
          <p:cNvSpPr/>
          <p:nvPr/>
        </p:nvSpPr>
        <p:spPr>
          <a:xfrm>
            <a:off x="4806497" y="1991146"/>
            <a:ext cx="4862189" cy="20701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2062088" y="806266"/>
            <a:ext cx="1733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以</a:t>
            </a:r>
            <a:r>
              <a:rPr lang="en-US" altLang="zh-CN" sz="1200" dirty="0"/>
              <a:t>watch</a:t>
            </a:r>
            <a:r>
              <a:rPr lang="zh-CN" altLang="en-US" sz="1200" dirty="0"/>
              <a:t>模式启动服务</a:t>
            </a:r>
            <a:endParaRPr lang="zh-CN" altLang="en-US" sz="12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457302" y="2999073"/>
            <a:ext cx="1560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通知代码存在更新</a:t>
            </a:r>
            <a:endParaRPr lang="zh-CN" altLang="en-US" sz="1200" dirty="0"/>
          </a:p>
        </p:txBody>
      </p:sp>
      <p:sp>
        <p:nvSpPr>
          <p:cNvPr id="60" name="文本框 59"/>
          <p:cNvSpPr txBox="1"/>
          <p:nvPr/>
        </p:nvSpPr>
        <p:spPr>
          <a:xfrm>
            <a:off x="4631684" y="1664522"/>
            <a:ext cx="521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浏览器请求页面，服务返回打包后文件 </a:t>
            </a:r>
            <a:r>
              <a:rPr lang="en-US" altLang="zh-CN" sz="1200" dirty="0"/>
              <a:t>+ runtime</a:t>
            </a:r>
            <a:r>
              <a:rPr lang="zh-CN" altLang="en-US" sz="1200" dirty="0"/>
              <a:t>代码，建立</a:t>
            </a:r>
            <a:r>
              <a:rPr lang="en-US" altLang="zh-CN" sz="1200" dirty="0"/>
              <a:t>WebSocket</a:t>
            </a:r>
            <a:r>
              <a:rPr lang="zh-CN" altLang="en-US" sz="1200" dirty="0"/>
              <a:t>连接</a:t>
            </a:r>
            <a:endParaRPr lang="zh-CN" altLang="en-US" sz="1200" dirty="0"/>
          </a:p>
        </p:txBody>
      </p:sp>
      <p:sp>
        <p:nvSpPr>
          <p:cNvPr id="75" name="右箭头 3"/>
          <p:cNvSpPr/>
          <p:nvPr/>
        </p:nvSpPr>
        <p:spPr>
          <a:xfrm>
            <a:off x="4806498" y="3253180"/>
            <a:ext cx="4862187" cy="2070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1" name="右箭头 3"/>
          <p:cNvSpPr/>
          <p:nvPr/>
        </p:nvSpPr>
        <p:spPr>
          <a:xfrm>
            <a:off x="1498892" y="2609532"/>
            <a:ext cx="2993961" cy="21911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4" name="文本框 23"/>
          <p:cNvSpPr txBox="1"/>
          <p:nvPr/>
        </p:nvSpPr>
        <p:spPr>
          <a:xfrm>
            <a:off x="2539045" y="2315098"/>
            <a:ext cx="864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修改源码</a:t>
            </a:r>
            <a:endParaRPr lang="zh-CN" altLang="en-US" sz="1200" dirty="0"/>
          </a:p>
        </p:txBody>
      </p:sp>
      <p:sp>
        <p:nvSpPr>
          <p:cNvPr id="26" name="文本框 25"/>
          <p:cNvSpPr txBox="1"/>
          <p:nvPr/>
        </p:nvSpPr>
        <p:spPr>
          <a:xfrm>
            <a:off x="3304014" y="3025011"/>
            <a:ext cx="1188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重新打包代码</a:t>
            </a:r>
            <a:endParaRPr lang="zh-CN" altLang="en-US" sz="1200" dirty="0"/>
          </a:p>
        </p:txBody>
      </p:sp>
      <p:sp>
        <p:nvSpPr>
          <p:cNvPr id="29" name="右箭头 26"/>
          <p:cNvSpPr/>
          <p:nvPr/>
        </p:nvSpPr>
        <p:spPr>
          <a:xfrm rot="5400000">
            <a:off x="4232687" y="3072292"/>
            <a:ext cx="530982" cy="18243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1" name="文本框 30"/>
          <p:cNvSpPr txBox="1"/>
          <p:nvPr/>
        </p:nvSpPr>
        <p:spPr>
          <a:xfrm>
            <a:off x="5455038" y="3634258"/>
            <a:ext cx="3565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浏览器请求</a:t>
            </a:r>
            <a:r>
              <a:rPr lang="en-US" altLang="zh-CN" sz="1200" dirty="0"/>
              <a:t>xxx.hot-update.json</a:t>
            </a:r>
            <a:r>
              <a:rPr lang="zh-CN" altLang="en-US" sz="1200" dirty="0"/>
              <a:t>，服务返回更新清单</a:t>
            </a:r>
            <a:endParaRPr lang="zh-CN" altLang="en-US" sz="1200" dirty="0"/>
          </a:p>
        </p:txBody>
      </p:sp>
      <p:sp>
        <p:nvSpPr>
          <p:cNvPr id="33" name="右箭头 3"/>
          <p:cNvSpPr/>
          <p:nvPr/>
        </p:nvSpPr>
        <p:spPr>
          <a:xfrm>
            <a:off x="4806497" y="3967190"/>
            <a:ext cx="4862189" cy="20701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4" name="文本框 33"/>
          <p:cNvSpPr txBox="1"/>
          <p:nvPr/>
        </p:nvSpPr>
        <p:spPr>
          <a:xfrm>
            <a:off x="5327439" y="4362324"/>
            <a:ext cx="3887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浏览器批量请求新模块文件</a:t>
            </a:r>
            <a:r>
              <a:rPr lang="en-US" altLang="zh-CN" sz="1200"/>
              <a:t>xxx.</a:t>
            </a:r>
            <a:r>
              <a:rPr lang="en-US" altLang="zh-CN" sz="1200" dirty="0"/>
              <a:t>hot-update.js</a:t>
            </a:r>
            <a:r>
              <a:rPr lang="zh-CN" altLang="en-US" sz="1200" dirty="0"/>
              <a:t>，服务返回</a:t>
            </a:r>
            <a:endParaRPr lang="zh-CN" altLang="en-US" sz="1200" dirty="0"/>
          </a:p>
        </p:txBody>
      </p:sp>
      <p:sp>
        <p:nvSpPr>
          <p:cNvPr id="35" name="右箭头 3"/>
          <p:cNvSpPr/>
          <p:nvPr/>
        </p:nvSpPr>
        <p:spPr>
          <a:xfrm>
            <a:off x="4806497" y="4639323"/>
            <a:ext cx="4862189" cy="20701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6" name="右箭头 26"/>
          <p:cNvSpPr/>
          <p:nvPr/>
        </p:nvSpPr>
        <p:spPr>
          <a:xfrm rot="5400000">
            <a:off x="9678700" y="5061151"/>
            <a:ext cx="810100" cy="17345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7" name="文本框 36"/>
          <p:cNvSpPr txBox="1"/>
          <p:nvPr/>
        </p:nvSpPr>
        <p:spPr>
          <a:xfrm>
            <a:off x="10170478" y="4917045"/>
            <a:ext cx="1188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使用模块冒泡方式更新代码</a:t>
            </a:r>
            <a:endParaRPr lang="en-US" altLang="zh-CN" sz="1200" dirty="0"/>
          </a:p>
        </p:txBody>
      </p:sp>
      <p:sp>
        <p:nvSpPr>
          <p:cNvPr id="41" name="文本框 40"/>
          <p:cNvSpPr txBox="1"/>
          <p:nvPr/>
        </p:nvSpPr>
        <p:spPr>
          <a:xfrm>
            <a:off x="9938387" y="5713584"/>
            <a:ext cx="1743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最终呈现更新后的效果</a:t>
            </a:r>
            <a:endParaRPr lang="en-US" altLang="zh-CN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14830" y="605155"/>
            <a:ext cx="1934210" cy="264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/>
              <a:t>用户输入的问题文本</a:t>
            </a:r>
            <a:endParaRPr lang="zh-CN" altLang="en-US" sz="1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915920" y="1009015"/>
            <a:ext cx="1208405" cy="241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用分词器切分</a:t>
            </a:r>
            <a:endParaRPr lang="zh-CN" altLang="en-US" sz="1000" dirty="0"/>
          </a:p>
        </p:txBody>
      </p:sp>
      <p:sp>
        <p:nvSpPr>
          <p:cNvPr id="29" name="右箭头 26"/>
          <p:cNvSpPr/>
          <p:nvPr/>
        </p:nvSpPr>
        <p:spPr>
          <a:xfrm rot="5400000">
            <a:off x="2604135" y="1035050"/>
            <a:ext cx="355600" cy="1822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/>
          </a:p>
        </p:txBody>
      </p:sp>
      <p:sp>
        <p:nvSpPr>
          <p:cNvPr id="46" name="文本框 45"/>
          <p:cNvSpPr txBox="1"/>
          <p:nvPr/>
        </p:nvSpPr>
        <p:spPr>
          <a:xfrm>
            <a:off x="1635125" y="114300"/>
            <a:ext cx="2293620" cy="30670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大模型推理</a:t>
            </a:r>
            <a:r>
              <a:rPr lang="zh-CN" altLang="en-US" sz="1400"/>
              <a:t>过程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2096770" y="1392555"/>
            <a:ext cx="1370330" cy="275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token</a:t>
            </a:r>
            <a:r>
              <a:rPr lang="zh-CN" altLang="en-US" sz="1200" dirty="0"/>
              <a:t>序列</a:t>
            </a:r>
            <a:endParaRPr lang="zh-CN" altLang="en-US" sz="1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832928" y="2191385"/>
            <a:ext cx="1898015" cy="275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token</a:t>
            </a:r>
            <a:r>
              <a:rPr lang="zh-CN" altLang="en-US" sz="1200" dirty="0"/>
              <a:t>对应的向量</a:t>
            </a:r>
            <a:r>
              <a:rPr lang="zh-CN" altLang="en-US" sz="1200" dirty="0">
                <a:sym typeface="+mn-ea"/>
              </a:rPr>
              <a:t>序列</a:t>
            </a:r>
            <a:endParaRPr lang="en-US" altLang="zh-CN" sz="1200" dirty="0"/>
          </a:p>
        </p:txBody>
      </p:sp>
      <p:sp>
        <p:nvSpPr>
          <p:cNvPr id="13" name="右箭头 26"/>
          <p:cNvSpPr/>
          <p:nvPr/>
        </p:nvSpPr>
        <p:spPr>
          <a:xfrm rot="5400000">
            <a:off x="2618105" y="1855470"/>
            <a:ext cx="327660" cy="1816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4" name="文本框 13"/>
          <p:cNvSpPr txBox="1"/>
          <p:nvPr/>
        </p:nvSpPr>
        <p:spPr>
          <a:xfrm>
            <a:off x="2915920" y="1740535"/>
            <a:ext cx="1061085" cy="408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查找每个</a:t>
            </a:r>
            <a:r>
              <a:rPr lang="en-US" altLang="zh-CN" sz="1000" dirty="0"/>
              <a:t>token</a:t>
            </a:r>
            <a:r>
              <a:rPr lang="zh-CN" altLang="en-US" sz="1000" dirty="0"/>
              <a:t>对应的向量</a:t>
            </a:r>
            <a:endParaRPr lang="zh-CN" altLang="en-US" sz="10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122488" y="2903220"/>
            <a:ext cx="1318895" cy="275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/>
              <a:t>模型第</a:t>
            </a:r>
            <a:r>
              <a:rPr lang="en-US" altLang="zh-CN" sz="1200" dirty="0"/>
              <a:t>1</a:t>
            </a:r>
            <a:r>
              <a:rPr lang="zh-CN" altLang="en-US" sz="1200" dirty="0"/>
              <a:t>层</a:t>
            </a:r>
            <a:endParaRPr lang="zh-CN" altLang="en-US" sz="1200" dirty="0"/>
          </a:p>
        </p:txBody>
      </p:sp>
      <p:sp>
        <p:nvSpPr>
          <p:cNvPr id="19" name="右箭头 26"/>
          <p:cNvSpPr/>
          <p:nvPr/>
        </p:nvSpPr>
        <p:spPr>
          <a:xfrm rot="5400000">
            <a:off x="2638743" y="2599690"/>
            <a:ext cx="286385" cy="1708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0" name="文本框 19"/>
          <p:cNvSpPr txBox="1"/>
          <p:nvPr/>
        </p:nvSpPr>
        <p:spPr>
          <a:xfrm>
            <a:off x="2123758" y="4361815"/>
            <a:ext cx="1316355" cy="2876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/>
              <a:t>模型第</a:t>
            </a:r>
            <a:r>
              <a:rPr lang="en-US" altLang="zh-CN" sz="1200" dirty="0"/>
              <a:t>28</a:t>
            </a:r>
            <a:r>
              <a:rPr lang="zh-CN" altLang="en-US" sz="1200" dirty="0"/>
              <a:t>层</a:t>
            </a:r>
            <a:endParaRPr lang="zh-CN" altLang="en-US" sz="1200" dirty="0"/>
          </a:p>
        </p:txBody>
      </p:sp>
      <p:sp>
        <p:nvSpPr>
          <p:cNvPr id="23" name="文本框 22"/>
          <p:cNvSpPr txBox="1"/>
          <p:nvPr/>
        </p:nvSpPr>
        <p:spPr>
          <a:xfrm>
            <a:off x="2927985" y="2561590"/>
            <a:ext cx="520065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计算</a:t>
            </a:r>
            <a:endParaRPr lang="en-US" altLang="zh-CN" sz="1000" dirty="0"/>
          </a:p>
        </p:txBody>
      </p:sp>
      <p:sp>
        <p:nvSpPr>
          <p:cNvPr id="30" name="文本框 29"/>
          <p:cNvSpPr txBox="1"/>
          <p:nvPr/>
        </p:nvSpPr>
        <p:spPr>
          <a:xfrm>
            <a:off x="2124075" y="3573145"/>
            <a:ext cx="1315720" cy="2813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/>
              <a:t>模型第</a:t>
            </a:r>
            <a:r>
              <a:rPr lang="en-US" altLang="zh-CN" sz="1200" dirty="0"/>
              <a:t>2</a:t>
            </a:r>
            <a:r>
              <a:rPr lang="zh-CN" altLang="en-US" sz="1200" dirty="0"/>
              <a:t>层</a:t>
            </a:r>
            <a:endParaRPr lang="zh-CN" altLang="en-US" sz="1200" dirty="0"/>
          </a:p>
        </p:txBody>
      </p:sp>
      <p:sp>
        <p:nvSpPr>
          <p:cNvPr id="38" name="右箭头 26"/>
          <p:cNvSpPr/>
          <p:nvPr/>
        </p:nvSpPr>
        <p:spPr>
          <a:xfrm rot="5400000">
            <a:off x="2653030" y="3304540"/>
            <a:ext cx="257810" cy="1568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39" name="文本框 38"/>
          <p:cNvSpPr txBox="1"/>
          <p:nvPr/>
        </p:nvSpPr>
        <p:spPr>
          <a:xfrm>
            <a:off x="2927985" y="3234690"/>
            <a:ext cx="520065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计算</a:t>
            </a:r>
            <a:endParaRPr lang="zh-CN" altLang="en-US" sz="1000" dirty="0"/>
          </a:p>
        </p:txBody>
      </p:sp>
      <p:sp>
        <p:nvSpPr>
          <p:cNvPr id="40" name="文本框 39"/>
          <p:cNvSpPr txBox="1"/>
          <p:nvPr/>
        </p:nvSpPr>
        <p:spPr>
          <a:xfrm>
            <a:off x="2007553" y="5080635"/>
            <a:ext cx="1548765" cy="2578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/>
              <a:t>得到下一个</a:t>
            </a:r>
            <a:r>
              <a:rPr lang="en-US" altLang="zh-CN" sz="1200" dirty="0"/>
              <a:t>token</a:t>
            </a:r>
            <a:endParaRPr lang="zh-CN" altLang="en-US" sz="1200" dirty="0"/>
          </a:p>
        </p:txBody>
      </p:sp>
      <p:sp>
        <p:nvSpPr>
          <p:cNvPr id="42" name="右箭头 26"/>
          <p:cNvSpPr/>
          <p:nvPr/>
        </p:nvSpPr>
        <p:spPr>
          <a:xfrm rot="5400000">
            <a:off x="2653348" y="4074160"/>
            <a:ext cx="257175" cy="1581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43" name="文本框 42"/>
          <p:cNvSpPr txBox="1"/>
          <p:nvPr/>
        </p:nvSpPr>
        <p:spPr>
          <a:xfrm>
            <a:off x="2927985" y="3975100"/>
            <a:ext cx="1397635" cy="269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依次通过所有层</a:t>
            </a:r>
            <a:r>
              <a:rPr lang="en-US" altLang="zh-CN" sz="1000" dirty="0"/>
              <a:t> </a:t>
            </a:r>
            <a:r>
              <a:rPr lang="zh-CN" altLang="en-US" sz="1000" dirty="0"/>
              <a:t>计算</a:t>
            </a:r>
            <a:endParaRPr lang="zh-CN" altLang="en-US" sz="1000" dirty="0"/>
          </a:p>
        </p:txBody>
      </p:sp>
      <p:sp>
        <p:nvSpPr>
          <p:cNvPr id="45" name="文本框 44"/>
          <p:cNvSpPr txBox="1"/>
          <p:nvPr/>
        </p:nvSpPr>
        <p:spPr>
          <a:xfrm>
            <a:off x="2590165" y="3790315"/>
            <a:ext cx="38354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dirty="0"/>
              <a:t>......</a:t>
            </a:r>
            <a:endParaRPr lang="en-US" altLang="zh-CN" sz="1000" dirty="0"/>
          </a:p>
        </p:txBody>
      </p:sp>
      <p:sp>
        <p:nvSpPr>
          <p:cNvPr id="49" name="右箭头 26"/>
          <p:cNvSpPr/>
          <p:nvPr/>
        </p:nvSpPr>
        <p:spPr>
          <a:xfrm rot="5400000">
            <a:off x="2633345" y="4794250"/>
            <a:ext cx="297180" cy="1816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0" name="文本框 49"/>
          <p:cNvSpPr txBox="1"/>
          <p:nvPr/>
        </p:nvSpPr>
        <p:spPr>
          <a:xfrm>
            <a:off x="2927985" y="4771390"/>
            <a:ext cx="64643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预测</a:t>
            </a:r>
            <a:endParaRPr lang="zh-CN" altLang="en-US" sz="1000" dirty="0"/>
          </a:p>
        </p:txBody>
      </p:sp>
      <p:sp>
        <p:nvSpPr>
          <p:cNvPr id="53" name="手杖形箭头 52"/>
          <p:cNvSpPr/>
          <p:nvPr/>
        </p:nvSpPr>
        <p:spPr>
          <a:xfrm rot="5400000" flipH="1">
            <a:off x="2081530" y="2983865"/>
            <a:ext cx="3802380" cy="752475"/>
          </a:xfrm>
          <a:prstGeom prst="uturnArrow">
            <a:avLst>
              <a:gd name="adj1" fmla="val 9163"/>
              <a:gd name="adj2" fmla="val 8520"/>
              <a:gd name="adj3" fmla="val 13933"/>
              <a:gd name="adj4" fmla="val 44480"/>
              <a:gd name="adj5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446905" y="2717800"/>
            <a:ext cx="838200" cy="536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加入</a:t>
            </a:r>
            <a:r>
              <a:rPr lang="zh-CN" altLang="en-US" sz="1000" dirty="0">
                <a:sym typeface="+mn-ea"/>
              </a:rPr>
              <a:t>序列</a:t>
            </a:r>
            <a:r>
              <a:rPr lang="zh-CN" altLang="en-US" sz="1000" dirty="0"/>
              <a:t>作为最后一个</a:t>
            </a:r>
            <a:r>
              <a:rPr lang="en-US" altLang="zh-CN" sz="1000" dirty="0"/>
              <a:t>token</a:t>
            </a:r>
            <a:endParaRPr lang="en-US" altLang="zh-CN" sz="1000" dirty="0"/>
          </a:p>
        </p:txBody>
      </p:sp>
      <p:sp>
        <p:nvSpPr>
          <p:cNvPr id="55" name="右箭头 26"/>
          <p:cNvSpPr/>
          <p:nvPr/>
        </p:nvSpPr>
        <p:spPr>
          <a:xfrm rot="5400000">
            <a:off x="2633345" y="5454650"/>
            <a:ext cx="297180" cy="1816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6" name="文本框 55"/>
          <p:cNvSpPr txBox="1"/>
          <p:nvPr/>
        </p:nvSpPr>
        <p:spPr>
          <a:xfrm>
            <a:off x="2915920" y="5431790"/>
            <a:ext cx="814705" cy="226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生成</a:t>
            </a:r>
            <a:r>
              <a:rPr lang="zh-CN" altLang="en-US" sz="1000" dirty="0"/>
              <a:t>结束</a:t>
            </a:r>
            <a:endParaRPr lang="zh-CN" altLang="en-US" sz="1000" dirty="0"/>
          </a:p>
        </p:txBody>
      </p:sp>
      <p:sp>
        <p:nvSpPr>
          <p:cNvPr id="57" name="文本框 56"/>
          <p:cNvSpPr txBox="1"/>
          <p:nvPr/>
        </p:nvSpPr>
        <p:spPr>
          <a:xfrm>
            <a:off x="2265680" y="5751830"/>
            <a:ext cx="1032510" cy="2533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/>
              <a:t>token</a:t>
            </a:r>
            <a:r>
              <a:rPr lang="zh-CN" altLang="en-US" sz="1200" dirty="0"/>
              <a:t>序列</a:t>
            </a:r>
            <a:endParaRPr lang="zh-CN" altLang="en-US" sz="1200" dirty="0"/>
          </a:p>
        </p:txBody>
      </p:sp>
      <p:sp>
        <p:nvSpPr>
          <p:cNvPr id="58" name="文本框 57"/>
          <p:cNvSpPr txBox="1"/>
          <p:nvPr/>
        </p:nvSpPr>
        <p:spPr>
          <a:xfrm>
            <a:off x="2265680" y="6390640"/>
            <a:ext cx="1032510" cy="2533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/>
              <a:t>答案文本</a:t>
            </a:r>
            <a:endParaRPr lang="zh-CN" altLang="en-US" sz="1200" dirty="0"/>
          </a:p>
        </p:txBody>
      </p:sp>
      <p:sp>
        <p:nvSpPr>
          <p:cNvPr id="59" name="右箭头 26"/>
          <p:cNvSpPr/>
          <p:nvPr/>
        </p:nvSpPr>
        <p:spPr>
          <a:xfrm rot="5400000">
            <a:off x="2633345" y="6111240"/>
            <a:ext cx="297180" cy="1816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1" name="文本框 60"/>
          <p:cNvSpPr txBox="1"/>
          <p:nvPr/>
        </p:nvSpPr>
        <p:spPr>
          <a:xfrm>
            <a:off x="2915920" y="6061710"/>
            <a:ext cx="473710" cy="210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转换</a:t>
            </a:r>
            <a:endParaRPr lang="zh-CN" altLang="en-US" sz="1000" dirty="0"/>
          </a:p>
        </p:txBody>
      </p:sp>
      <p:sp>
        <p:nvSpPr>
          <p:cNvPr id="121" name="文本框 120"/>
          <p:cNvSpPr txBox="1"/>
          <p:nvPr/>
        </p:nvSpPr>
        <p:spPr>
          <a:xfrm>
            <a:off x="6680835" y="606425"/>
            <a:ext cx="1934210" cy="264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/>
              <a:t>今天天气如何</a:t>
            </a:r>
            <a:endParaRPr lang="zh-CN" altLang="en-US" sz="1200" dirty="0"/>
          </a:p>
        </p:txBody>
      </p:sp>
      <p:sp>
        <p:nvSpPr>
          <p:cNvPr id="122" name="文本框 121"/>
          <p:cNvSpPr txBox="1"/>
          <p:nvPr/>
        </p:nvSpPr>
        <p:spPr>
          <a:xfrm>
            <a:off x="7795260" y="1003300"/>
            <a:ext cx="1208405" cy="288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用分词器切分</a:t>
            </a:r>
            <a:endParaRPr lang="zh-CN" altLang="en-US" sz="1000" dirty="0"/>
          </a:p>
        </p:txBody>
      </p:sp>
      <p:sp>
        <p:nvSpPr>
          <p:cNvPr id="123" name="右箭头 26"/>
          <p:cNvSpPr/>
          <p:nvPr/>
        </p:nvSpPr>
        <p:spPr>
          <a:xfrm rot="5400000">
            <a:off x="7470140" y="1036320"/>
            <a:ext cx="355600" cy="1822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24" name="文本框 123"/>
          <p:cNvSpPr txBox="1"/>
          <p:nvPr/>
        </p:nvSpPr>
        <p:spPr>
          <a:xfrm>
            <a:off x="6501765" y="114300"/>
            <a:ext cx="2293620" cy="30670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推理数据</a:t>
            </a:r>
            <a:r>
              <a:rPr lang="zh-CN" altLang="en-US" sz="1400"/>
              <a:t>示例</a:t>
            </a:r>
            <a:endParaRPr lang="zh-CN" altLang="en-US" sz="1400"/>
          </a:p>
        </p:txBody>
      </p:sp>
      <p:sp>
        <p:nvSpPr>
          <p:cNvPr id="125" name="文本框 124"/>
          <p:cNvSpPr txBox="1"/>
          <p:nvPr/>
        </p:nvSpPr>
        <p:spPr>
          <a:xfrm>
            <a:off x="6183630" y="1376680"/>
            <a:ext cx="2928620" cy="4749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>
                <a:sym typeface="+mn-ea"/>
              </a:rPr>
              <a:t>今天</a:t>
            </a:r>
            <a:r>
              <a:rPr lang="en-US" altLang="zh-CN" sz="1200" dirty="0">
                <a:sym typeface="+mn-ea"/>
              </a:rPr>
              <a:t> / </a:t>
            </a:r>
            <a:r>
              <a:rPr lang="zh-CN" altLang="en-US" sz="1200" dirty="0">
                <a:sym typeface="+mn-ea"/>
              </a:rPr>
              <a:t>天气</a:t>
            </a:r>
            <a:r>
              <a:rPr lang="en-US" altLang="zh-CN" sz="1200" dirty="0">
                <a:sym typeface="+mn-ea"/>
              </a:rPr>
              <a:t> / </a:t>
            </a:r>
            <a:r>
              <a:rPr lang="zh-CN" altLang="en-US" sz="1200" dirty="0">
                <a:sym typeface="+mn-ea"/>
              </a:rPr>
              <a:t>如何</a:t>
            </a:r>
            <a:endParaRPr lang="zh-CN" altLang="en-US" sz="1200" dirty="0">
              <a:sym typeface="+mn-ea"/>
            </a:endParaRPr>
          </a:p>
          <a:p>
            <a:pPr algn="ctr"/>
            <a:r>
              <a:rPr lang="zh-CN" altLang="en-US" sz="1200" dirty="0">
                <a:sym typeface="+mn-ea"/>
              </a:rPr>
              <a:t>实际为</a:t>
            </a:r>
            <a:r>
              <a:rPr lang="en-US" altLang="zh-CN" sz="1200" dirty="0">
                <a:sym typeface="+mn-ea"/>
              </a:rPr>
              <a:t>tokenId </a:t>
            </a:r>
            <a:r>
              <a:rPr lang="zh-CN" altLang="en-US" sz="1200" dirty="0">
                <a:sym typeface="+mn-ea"/>
              </a:rPr>
              <a:t>例如</a:t>
            </a:r>
            <a:r>
              <a:rPr lang="en-US" altLang="zh-CN" sz="1200" dirty="0">
                <a:sym typeface="+mn-ea"/>
              </a:rPr>
              <a:t> 15 / 1526 / 45987</a:t>
            </a:r>
            <a:endParaRPr lang="zh-CN" altLang="en-US" sz="1200" dirty="0"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6624003" y="2346960"/>
            <a:ext cx="2047875" cy="8585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dirty="0"/>
              <a:t>[12, 45, 2.54, ....],</a:t>
            </a:r>
            <a:endParaRPr lang="en-US" altLang="zh-CN" sz="1200" dirty="0"/>
          </a:p>
          <a:p>
            <a:pPr algn="ctr"/>
            <a:r>
              <a:rPr lang="en-US" altLang="zh-CN" sz="1200" dirty="0">
                <a:sym typeface="+mn-ea"/>
              </a:rPr>
              <a:t>[87, 1.26, 74.54, ....], </a:t>
            </a:r>
            <a:r>
              <a:rPr lang="en-US" altLang="zh-CN" sz="1200" dirty="0"/>
              <a:t> </a:t>
            </a:r>
            <a:endParaRPr lang="en-US" altLang="zh-CN" sz="1200" dirty="0"/>
          </a:p>
          <a:p>
            <a:pPr algn="ctr"/>
            <a:r>
              <a:rPr lang="en-US" altLang="zh-CN" sz="1200" dirty="0">
                <a:sym typeface="+mn-ea"/>
              </a:rPr>
              <a:t>[154, 20, 5.54, ....], </a:t>
            </a:r>
            <a:endParaRPr lang="en-US" altLang="zh-CN" sz="1200" dirty="0">
              <a:sym typeface="+mn-ea"/>
            </a:endParaRPr>
          </a:p>
          <a:p>
            <a:pPr algn="ctr"/>
            <a:r>
              <a:rPr lang="en-US" altLang="zh-CN" sz="1200" dirty="0">
                <a:sym typeface="+mn-ea"/>
              </a:rPr>
              <a:t>...   </a:t>
            </a:r>
            <a:r>
              <a:rPr lang="zh-CN" altLang="en-US" sz="1200" dirty="0">
                <a:sym typeface="+mn-ea"/>
              </a:rPr>
              <a:t>每个向量</a:t>
            </a:r>
            <a:r>
              <a:rPr lang="en-US" altLang="zh-CN" sz="1200" dirty="0">
                <a:sym typeface="+mn-ea"/>
              </a:rPr>
              <a:t>1024</a:t>
            </a:r>
            <a:r>
              <a:rPr lang="zh-CN" altLang="en-US" sz="1200" dirty="0">
                <a:sym typeface="+mn-ea"/>
              </a:rPr>
              <a:t>维</a:t>
            </a:r>
            <a:endParaRPr lang="en-US" altLang="zh-CN" sz="1200" dirty="0">
              <a:sym typeface="+mn-ea"/>
            </a:endParaRPr>
          </a:p>
          <a:p>
            <a:pPr algn="ctr"/>
            <a:endParaRPr lang="en-US" altLang="zh-CN" sz="1200" dirty="0"/>
          </a:p>
        </p:txBody>
      </p:sp>
      <p:sp>
        <p:nvSpPr>
          <p:cNvPr id="127" name="右箭头 26"/>
          <p:cNvSpPr/>
          <p:nvPr/>
        </p:nvSpPr>
        <p:spPr>
          <a:xfrm rot="5400000">
            <a:off x="7484110" y="2011045"/>
            <a:ext cx="327660" cy="1816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29" name="文本框 128"/>
          <p:cNvSpPr txBox="1"/>
          <p:nvPr/>
        </p:nvSpPr>
        <p:spPr>
          <a:xfrm>
            <a:off x="6988493" y="3615055"/>
            <a:ext cx="1318895" cy="275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/>
              <a:t>模型第</a:t>
            </a:r>
            <a:r>
              <a:rPr lang="en-US" altLang="zh-CN" sz="1200" dirty="0"/>
              <a:t>1</a:t>
            </a:r>
            <a:r>
              <a:rPr lang="zh-CN" altLang="en-US" sz="1200" dirty="0"/>
              <a:t>层</a:t>
            </a:r>
            <a:endParaRPr lang="zh-CN" altLang="en-US" sz="1200" dirty="0"/>
          </a:p>
        </p:txBody>
      </p:sp>
      <p:sp>
        <p:nvSpPr>
          <p:cNvPr id="130" name="右箭头 26"/>
          <p:cNvSpPr/>
          <p:nvPr/>
        </p:nvSpPr>
        <p:spPr>
          <a:xfrm rot="5400000">
            <a:off x="7504748" y="3334385"/>
            <a:ext cx="286385" cy="1708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31" name="文本框 130"/>
          <p:cNvSpPr txBox="1"/>
          <p:nvPr/>
        </p:nvSpPr>
        <p:spPr>
          <a:xfrm>
            <a:off x="6989763" y="4404360"/>
            <a:ext cx="1316355" cy="2876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/>
              <a:t>模型第</a:t>
            </a:r>
            <a:r>
              <a:rPr lang="en-US" altLang="zh-CN" sz="1200" dirty="0"/>
              <a:t>28</a:t>
            </a:r>
            <a:r>
              <a:rPr lang="zh-CN" altLang="en-US" sz="1200" dirty="0"/>
              <a:t>层</a:t>
            </a:r>
            <a:endParaRPr lang="zh-CN" altLang="en-US" sz="1200" dirty="0"/>
          </a:p>
        </p:txBody>
      </p:sp>
      <p:sp>
        <p:nvSpPr>
          <p:cNvPr id="136" name="文本框 135"/>
          <p:cNvSpPr txBox="1"/>
          <p:nvPr/>
        </p:nvSpPr>
        <p:spPr>
          <a:xfrm>
            <a:off x="6620193" y="5083810"/>
            <a:ext cx="2055495" cy="2578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/>
              <a:t>气温</a:t>
            </a:r>
            <a:r>
              <a:rPr lang="zh-CN" altLang="en-US" sz="1200" dirty="0">
                <a:sym typeface="+mn-ea"/>
              </a:rPr>
              <a:t>（</a:t>
            </a:r>
            <a:r>
              <a:rPr lang="en-US" altLang="zh-CN" sz="1200" dirty="0">
                <a:sym typeface="+mn-ea"/>
              </a:rPr>
              <a:t>tokenId</a:t>
            </a:r>
            <a:r>
              <a:rPr lang="zh-CN" altLang="en-US" sz="1200" dirty="0">
                <a:sym typeface="+mn-ea"/>
              </a:rPr>
              <a:t>，例如</a:t>
            </a:r>
            <a:r>
              <a:rPr lang="en-US" altLang="zh-CN" sz="1200" dirty="0">
                <a:sym typeface="+mn-ea"/>
              </a:rPr>
              <a:t> 45</a:t>
            </a:r>
            <a:r>
              <a:rPr lang="zh-CN" altLang="en-US" sz="1200" dirty="0">
                <a:sym typeface="+mn-ea"/>
              </a:rPr>
              <a:t>）</a:t>
            </a:r>
            <a:endParaRPr lang="zh-CN" altLang="en-US" sz="1200" dirty="0">
              <a:sym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137" name="右箭头 26"/>
          <p:cNvSpPr/>
          <p:nvPr/>
        </p:nvSpPr>
        <p:spPr>
          <a:xfrm rot="5400000">
            <a:off x="7519353" y="4116705"/>
            <a:ext cx="257175" cy="1581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38" name="文本框 137"/>
          <p:cNvSpPr txBox="1"/>
          <p:nvPr/>
        </p:nvSpPr>
        <p:spPr>
          <a:xfrm>
            <a:off x="7795260" y="4017645"/>
            <a:ext cx="1397635" cy="269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依次通过所有层</a:t>
            </a:r>
            <a:r>
              <a:rPr lang="en-US" altLang="zh-CN" sz="1000" dirty="0"/>
              <a:t> </a:t>
            </a:r>
            <a:r>
              <a:rPr lang="zh-CN" altLang="en-US" sz="1000" dirty="0"/>
              <a:t>计算</a:t>
            </a:r>
            <a:endParaRPr lang="zh-CN" altLang="en-US" sz="1000" dirty="0"/>
          </a:p>
        </p:txBody>
      </p:sp>
      <p:sp>
        <p:nvSpPr>
          <p:cNvPr id="139" name="文本框 138"/>
          <p:cNvSpPr txBox="1"/>
          <p:nvPr/>
        </p:nvSpPr>
        <p:spPr>
          <a:xfrm>
            <a:off x="7456170" y="3832860"/>
            <a:ext cx="38354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dirty="0"/>
              <a:t>......</a:t>
            </a:r>
            <a:endParaRPr lang="en-US" altLang="zh-CN" sz="1000" dirty="0"/>
          </a:p>
        </p:txBody>
      </p:sp>
      <p:sp>
        <p:nvSpPr>
          <p:cNvPr id="140" name="右箭头 26"/>
          <p:cNvSpPr/>
          <p:nvPr/>
        </p:nvSpPr>
        <p:spPr>
          <a:xfrm rot="5400000">
            <a:off x="7499350" y="4795520"/>
            <a:ext cx="297180" cy="1816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41" name="文本框 140"/>
          <p:cNvSpPr txBox="1"/>
          <p:nvPr/>
        </p:nvSpPr>
        <p:spPr>
          <a:xfrm>
            <a:off x="7795260" y="4772660"/>
            <a:ext cx="64643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预测</a:t>
            </a:r>
            <a:endParaRPr lang="zh-CN" altLang="en-US" sz="1000" dirty="0"/>
          </a:p>
        </p:txBody>
      </p:sp>
      <p:sp>
        <p:nvSpPr>
          <p:cNvPr id="142" name="手杖形箭头 141"/>
          <p:cNvSpPr/>
          <p:nvPr/>
        </p:nvSpPr>
        <p:spPr>
          <a:xfrm rot="5400000" flipH="1">
            <a:off x="7294880" y="2976880"/>
            <a:ext cx="3730625" cy="825500"/>
          </a:xfrm>
          <a:prstGeom prst="uturnArrow">
            <a:avLst>
              <a:gd name="adj1" fmla="val 8653"/>
              <a:gd name="adj2" fmla="val 8520"/>
              <a:gd name="adj3" fmla="val 13933"/>
              <a:gd name="adj4" fmla="val 44480"/>
              <a:gd name="adj5" fmla="val 521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144" name="右箭头 26"/>
          <p:cNvSpPr/>
          <p:nvPr/>
        </p:nvSpPr>
        <p:spPr>
          <a:xfrm rot="5400000">
            <a:off x="7499350" y="5455920"/>
            <a:ext cx="297180" cy="1816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45" name="文本框 144"/>
          <p:cNvSpPr txBox="1"/>
          <p:nvPr/>
        </p:nvSpPr>
        <p:spPr>
          <a:xfrm>
            <a:off x="7795260" y="5433060"/>
            <a:ext cx="814705" cy="226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生成</a:t>
            </a:r>
            <a:r>
              <a:rPr lang="zh-CN" altLang="en-US" sz="1000" dirty="0"/>
              <a:t>结束</a:t>
            </a:r>
            <a:endParaRPr lang="zh-CN" altLang="en-US" sz="1000" dirty="0"/>
          </a:p>
        </p:txBody>
      </p:sp>
      <p:sp>
        <p:nvSpPr>
          <p:cNvPr id="146" name="文本框 145"/>
          <p:cNvSpPr txBox="1"/>
          <p:nvPr/>
        </p:nvSpPr>
        <p:spPr>
          <a:xfrm>
            <a:off x="6548120" y="5753100"/>
            <a:ext cx="2199640" cy="262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>
                <a:sym typeface="+mn-ea"/>
              </a:rPr>
              <a:t>气温</a:t>
            </a:r>
            <a:r>
              <a:rPr lang="en-US" altLang="zh-CN" sz="1200" dirty="0">
                <a:sym typeface="+mn-ea"/>
              </a:rPr>
              <a:t> / </a:t>
            </a:r>
            <a:r>
              <a:rPr lang="zh-CN" altLang="en-US" sz="1200" dirty="0">
                <a:sym typeface="+mn-ea"/>
              </a:rPr>
              <a:t>升高</a:t>
            </a:r>
            <a:r>
              <a:rPr lang="en-US" altLang="zh-CN" sz="1200" dirty="0">
                <a:sym typeface="+mn-ea"/>
              </a:rPr>
              <a:t> /</a:t>
            </a:r>
            <a:r>
              <a:rPr lang="zh-CN" altLang="en-US" sz="1200" dirty="0">
                <a:sym typeface="+mn-ea"/>
              </a:rPr>
              <a:t>，</a:t>
            </a:r>
            <a:r>
              <a:rPr lang="en-US" altLang="zh-CN" sz="1200" dirty="0">
                <a:sym typeface="+mn-ea"/>
              </a:rPr>
              <a:t>/ </a:t>
            </a:r>
            <a:r>
              <a:rPr lang="zh-CN" altLang="en-US" sz="1200" dirty="0">
                <a:sym typeface="+mn-ea"/>
              </a:rPr>
              <a:t>注意</a:t>
            </a:r>
            <a:r>
              <a:rPr lang="en-US" altLang="zh-CN" sz="1200" dirty="0">
                <a:sym typeface="+mn-ea"/>
              </a:rPr>
              <a:t> / </a:t>
            </a:r>
            <a:r>
              <a:rPr lang="zh-CN" altLang="en-US" sz="1200" dirty="0">
                <a:sym typeface="+mn-ea"/>
              </a:rPr>
              <a:t>防暑</a:t>
            </a:r>
            <a:endParaRPr lang="zh-CN" altLang="en-US" sz="1200" dirty="0">
              <a:sym typeface="+mn-ea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6769735" y="6381115"/>
            <a:ext cx="1756410" cy="262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dirty="0">
                <a:sym typeface="+mn-ea"/>
              </a:rPr>
              <a:t>气温升高，注意防暑</a:t>
            </a:r>
            <a:endParaRPr lang="zh-CN" altLang="en-US" sz="1200" dirty="0"/>
          </a:p>
        </p:txBody>
      </p:sp>
      <p:sp>
        <p:nvSpPr>
          <p:cNvPr id="148" name="右箭头 26"/>
          <p:cNvSpPr/>
          <p:nvPr/>
        </p:nvSpPr>
        <p:spPr>
          <a:xfrm rot="5400000">
            <a:off x="7503160" y="6112510"/>
            <a:ext cx="289560" cy="1816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49" name="文本框 148"/>
          <p:cNvSpPr txBox="1"/>
          <p:nvPr/>
        </p:nvSpPr>
        <p:spPr>
          <a:xfrm>
            <a:off x="7795260" y="6062980"/>
            <a:ext cx="473710" cy="210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转换</a:t>
            </a:r>
            <a:endParaRPr lang="zh-CN" altLang="en-US" sz="1000" dirty="0"/>
          </a:p>
        </p:txBody>
      </p:sp>
      <p:sp>
        <p:nvSpPr>
          <p:cNvPr id="150" name="文本框 149"/>
          <p:cNvSpPr txBox="1"/>
          <p:nvPr/>
        </p:nvSpPr>
        <p:spPr>
          <a:xfrm>
            <a:off x="7795260" y="3276600"/>
            <a:ext cx="520065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计算</a:t>
            </a:r>
            <a:endParaRPr lang="zh-CN" altLang="en-US" sz="1000" dirty="0"/>
          </a:p>
        </p:txBody>
      </p:sp>
      <p:sp>
        <p:nvSpPr>
          <p:cNvPr id="152" name="文本框 151"/>
          <p:cNvSpPr txBox="1"/>
          <p:nvPr/>
        </p:nvSpPr>
        <p:spPr>
          <a:xfrm>
            <a:off x="7795260" y="1892935"/>
            <a:ext cx="1061085" cy="408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查找每个</a:t>
            </a:r>
            <a:r>
              <a:rPr lang="en-US" altLang="zh-CN" sz="1000" dirty="0"/>
              <a:t>token</a:t>
            </a:r>
            <a:r>
              <a:rPr lang="zh-CN" altLang="en-US" sz="1000" dirty="0"/>
              <a:t>对应的向量</a:t>
            </a:r>
            <a:endParaRPr lang="zh-CN" altLang="en-US" sz="1000" dirty="0"/>
          </a:p>
        </p:txBody>
      </p:sp>
      <p:sp>
        <p:nvSpPr>
          <p:cNvPr id="153" name="文本框 152"/>
          <p:cNvSpPr txBox="1"/>
          <p:nvPr/>
        </p:nvSpPr>
        <p:spPr>
          <a:xfrm>
            <a:off x="9613900" y="2773045"/>
            <a:ext cx="838200" cy="536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dirty="0"/>
              <a:t>加入</a:t>
            </a:r>
            <a:r>
              <a:rPr lang="zh-CN" altLang="en-US" sz="1000" dirty="0">
                <a:sym typeface="+mn-ea"/>
              </a:rPr>
              <a:t>序列</a:t>
            </a:r>
            <a:r>
              <a:rPr lang="zh-CN" altLang="en-US" sz="1000" dirty="0"/>
              <a:t>作为最后一个</a:t>
            </a:r>
            <a:r>
              <a:rPr lang="en-US" altLang="zh-CN" sz="1000" dirty="0"/>
              <a:t>token</a:t>
            </a:r>
            <a:endParaRPr lang="en-US" altLang="zh-CN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662680" y="3244215"/>
            <a:ext cx="124460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http-proxy</a:t>
            </a:r>
            <a:r>
              <a:rPr lang="zh-CN" altLang="en-US"/>
              <a:t>代理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80415" y="274955"/>
            <a:ext cx="10357485" cy="554863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56310" y="421005"/>
            <a:ext cx="76542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/>
              <a:t>大模型参数量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155,582,464 + </a:t>
            </a:r>
            <a:r>
              <a:rPr lang="en-US" altLang="zh-CN">
                <a:sym typeface="+mn-ea"/>
              </a:rPr>
              <a:t>440,401,920 = 595,984,384 ≈ </a:t>
            </a:r>
            <a:r>
              <a:rPr lang="en-US" altLang="zh-CN">
                <a:sym typeface="+mn-ea"/>
              </a:rPr>
              <a:t>596M </a:t>
            </a:r>
            <a:r>
              <a:rPr lang="en-US" altLang="zh-CN">
                <a:sym typeface="+mn-ea"/>
              </a:rPr>
              <a:t>≈ </a:t>
            </a:r>
            <a:r>
              <a:rPr lang="en-US" altLang="zh-CN"/>
              <a:t>0.6</a:t>
            </a:r>
            <a:r>
              <a:rPr lang="en-US" altLang="zh-CN"/>
              <a:t>B</a:t>
            </a:r>
            <a:endParaRPr lang="en-US" altLang="zh-CN"/>
          </a:p>
        </p:txBody>
      </p:sp>
      <p:grpSp>
        <p:nvGrpSpPr>
          <p:cNvPr id="8" name="组合 7"/>
          <p:cNvGrpSpPr/>
          <p:nvPr/>
        </p:nvGrpSpPr>
        <p:grpSpPr>
          <a:xfrm>
            <a:off x="1018540" y="1045210"/>
            <a:ext cx="2974975" cy="4498975"/>
            <a:chOff x="4909" y="4185"/>
            <a:chExt cx="3558" cy="3190"/>
          </a:xfrm>
        </p:grpSpPr>
        <p:sp>
          <p:nvSpPr>
            <p:cNvPr id="4" name="矩形 3"/>
            <p:cNvSpPr/>
            <p:nvPr/>
          </p:nvSpPr>
          <p:spPr>
            <a:xfrm>
              <a:off x="4909" y="4185"/>
              <a:ext cx="3559" cy="319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005" y="4294"/>
              <a:ext cx="3010" cy="18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/>
                <a:t>词嵌入</a:t>
              </a:r>
              <a:endParaRPr lang="zh-CN" altLang="en-US"/>
            </a:p>
            <a:p>
              <a:pPr algn="l"/>
              <a:r>
                <a:rPr lang="en-US" altLang="zh-CN"/>
                <a:t>151,936 × 1,024 </a:t>
              </a:r>
              <a:endParaRPr lang="en-US" altLang="zh-CN"/>
            </a:p>
            <a:p>
              <a:pPr algn="l"/>
              <a:r>
                <a:rPr lang="en-US" altLang="zh-CN"/>
                <a:t>= 155,582,464 </a:t>
              </a:r>
              <a:r>
                <a:rPr lang="en-US" altLang="zh-CN">
                  <a:sym typeface="+mn-ea"/>
                </a:rPr>
                <a:t>≈ 156M</a:t>
              </a:r>
              <a:endParaRPr lang="en-US" altLang="zh-CN"/>
            </a:p>
          </p:txBody>
        </p:sp>
      </p:grpSp>
      <p:sp>
        <p:nvSpPr>
          <p:cNvPr id="32" name="矩形 31"/>
          <p:cNvSpPr/>
          <p:nvPr/>
        </p:nvSpPr>
        <p:spPr>
          <a:xfrm>
            <a:off x="4371975" y="1045210"/>
            <a:ext cx="6425565" cy="44989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4699635" y="1945640"/>
            <a:ext cx="5950585" cy="3331210"/>
            <a:chOff x="7027" y="2563"/>
            <a:chExt cx="9371" cy="5246"/>
          </a:xfrm>
        </p:grpSpPr>
        <p:grpSp>
          <p:nvGrpSpPr>
            <p:cNvPr id="34" name="组合 33"/>
            <p:cNvGrpSpPr/>
            <p:nvPr/>
          </p:nvGrpSpPr>
          <p:grpSpPr>
            <a:xfrm>
              <a:off x="7027" y="2563"/>
              <a:ext cx="7866" cy="5246"/>
              <a:chOff x="7027" y="2563"/>
              <a:chExt cx="7866" cy="5246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7027" y="2563"/>
                <a:ext cx="7866" cy="524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7151" y="2641"/>
                <a:ext cx="3470" cy="10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 anchor="t">
                <a:noAutofit/>
              </a:bodyPr>
              <a:lstStyle/>
              <a:p>
                <a:pPr algn="l"/>
                <a:r>
                  <a:rPr lang="zh-CN" altLang="en-US"/>
                  <a:t>单个</a:t>
                </a:r>
                <a:r>
                  <a:rPr lang="en-US" altLang="zh-CN"/>
                  <a:t>Transformer</a:t>
                </a:r>
                <a:r>
                  <a:rPr lang="zh-CN" altLang="en-US"/>
                  <a:t>层</a:t>
                </a:r>
                <a:endParaRPr lang="zh-CN" altLang="en-US"/>
              </a:p>
              <a:p>
                <a:pPr algn="l"/>
                <a:r>
                  <a:rPr lang="en-US" altLang="zh-CN"/>
                  <a:t>15,728,640 </a:t>
                </a:r>
                <a:r>
                  <a:rPr lang="en-US" altLang="zh-CN">
                    <a:sym typeface="+mn-ea"/>
                  </a:rPr>
                  <a:t>≈ 16</a:t>
                </a:r>
                <a:r>
                  <a:rPr lang="en-US" altLang="zh-CN">
                    <a:sym typeface="+mn-ea"/>
                  </a:rPr>
                  <a:t>M</a:t>
                </a:r>
                <a:endParaRPr lang="en-US" altLang="zh-CN">
                  <a:sym typeface="+mn-ea"/>
                </a:endParaRPr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7948" y="3809"/>
                <a:ext cx="5942" cy="1740"/>
                <a:chOff x="7948" y="3945"/>
                <a:chExt cx="5942" cy="1740"/>
              </a:xfrm>
            </p:grpSpPr>
            <p:sp>
              <p:nvSpPr>
                <p:cNvPr id="18" name="矩形 17"/>
                <p:cNvSpPr/>
                <p:nvPr/>
              </p:nvSpPr>
              <p:spPr>
                <a:xfrm>
                  <a:off x="7948" y="3945"/>
                  <a:ext cx="5942" cy="1741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8072" y="4103"/>
                  <a:ext cx="5749" cy="140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14:hiddenFill>
                  </a:ext>
                </a:extLst>
              </p:spPr>
              <p:txBody>
                <a:bodyPr wrap="square" rtlCol="0" anchor="t">
                  <a:noAutofit/>
                </a:bodyPr>
                <a:lstStyle/>
                <a:p>
                  <a:pPr algn="l"/>
                  <a:r>
                    <a:rPr lang="en-US" altLang="zh-CN">
                      <a:solidFill>
                        <a:schemeClr val="tx1"/>
                      </a:solidFill>
                    </a:rPr>
                    <a:t>Q/K/V/O</a:t>
                  </a:r>
                  <a:r>
                    <a:rPr lang="zh-CN" altLang="en-US">
                      <a:solidFill>
                        <a:schemeClr val="tx1"/>
                      </a:solidFill>
                    </a:rPr>
                    <a:t>投影矩阵</a:t>
                  </a:r>
                  <a:endParaRPr lang="zh-CN" altLang="en-US">
                    <a:solidFill>
                      <a:schemeClr val="tx1"/>
                    </a:solidFill>
                  </a:endParaRPr>
                </a:p>
                <a:p>
                  <a:pPr algn="l"/>
                  <a:r>
                    <a:rPr lang="en-US" altLang="zh-CN">
                      <a:solidFill>
                        <a:schemeClr val="tx1"/>
                      </a:solidFill>
                    </a:rPr>
                    <a:t>1024 × 1024 × 2 + 1024 × 2048 × 2</a:t>
                  </a:r>
                  <a:endParaRPr lang="en-US" altLang="zh-CN">
                    <a:solidFill>
                      <a:schemeClr val="tx1"/>
                    </a:solidFill>
                  </a:endParaRPr>
                </a:p>
                <a:p>
                  <a:pPr algn="l"/>
                  <a:r>
                    <a:rPr lang="en-US" altLang="zh-CN">
                      <a:solidFill>
                        <a:schemeClr val="tx1"/>
                      </a:solidFill>
                    </a:rPr>
                    <a:t>= 6,291,456 </a:t>
                  </a:r>
                  <a:r>
                    <a:rPr lang="en-US" altLang="zh-CN">
                      <a:solidFill>
                        <a:schemeClr val="tx1"/>
                      </a:solidFill>
                      <a:sym typeface="+mn-ea"/>
                    </a:rPr>
                    <a:t>≈ 6M</a:t>
                  </a:r>
                  <a:endParaRPr lang="en-US" altLang="zh-CN">
                    <a:solidFill>
                      <a:schemeClr val="tx1"/>
                    </a:solidFill>
                    <a:sym typeface="+mn-ea"/>
                  </a:endParaRPr>
                </a:p>
              </p:txBody>
            </p:sp>
          </p:grpSp>
          <p:sp>
            <p:nvSpPr>
              <p:cNvPr id="23" name="矩形 22"/>
              <p:cNvSpPr/>
              <p:nvPr/>
            </p:nvSpPr>
            <p:spPr>
              <a:xfrm>
                <a:off x="7948" y="5989"/>
                <a:ext cx="5941" cy="131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8072" y="6147"/>
                <a:ext cx="5817" cy="11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lumMod val="40000"/>
                        <a:lumOff val="60000"/>
                      </a:schemeClr>
                    </a:solidFill>
                  </a14:hiddenFill>
                </a:ext>
              </a:extLst>
            </p:spPr>
            <p:txBody>
              <a:bodyPr wrap="square" rtlCol="0" anchor="t">
                <a:noAutofit/>
              </a:bodyPr>
              <a:lstStyle/>
              <a:p>
                <a:pPr algn="l"/>
                <a:r>
                  <a:rPr lang="zh-CN" altLang="en-US">
                    <a:solidFill>
                      <a:schemeClr val="tx1"/>
                    </a:solidFill>
                  </a:rPr>
                  <a:t>前馈网络</a:t>
                </a:r>
                <a:endParaRPr lang="zh-CN" altLang="en-US">
                  <a:solidFill>
                    <a:schemeClr val="tx1"/>
                  </a:solidFill>
                </a:endParaRPr>
              </a:p>
              <a:p>
                <a:pPr algn="l"/>
                <a:r>
                  <a:rPr lang="en-US" altLang="zh-CN">
                    <a:solidFill>
                      <a:schemeClr val="tx1"/>
                    </a:solidFill>
                  </a:rPr>
                  <a:t>1024 × 3072 × 3  = 9,437,184 </a:t>
                </a:r>
                <a:r>
                  <a:rPr lang="en-US" altLang="zh-CN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≈ 9M</a:t>
                </a: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  <a:p>
                <a:pPr algn="l"/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14952" y="4975"/>
              <a:ext cx="1447" cy="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en-US" altLang="zh-CN">
                  <a:sym typeface="+mn-ea"/>
                </a:rPr>
                <a:t>× 28</a:t>
              </a:r>
              <a:r>
                <a:rPr lang="zh-CN" altLang="en-US">
                  <a:sym typeface="+mn-ea"/>
                </a:rPr>
                <a:t>层</a:t>
              </a:r>
              <a:endParaRPr lang="zh-CN" altLang="en-US">
                <a:sym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4583430" y="1213485"/>
            <a:ext cx="5429250" cy="732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>
                <a:sym typeface="+mn-ea"/>
              </a:rPr>
              <a:t>所有层的参数总量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15,728,640 × 28 = 440,401,920 </a:t>
            </a:r>
            <a:r>
              <a:rPr lang="en-US" altLang="zh-CN">
                <a:sym typeface="+mn-ea"/>
              </a:rPr>
              <a:t>≈ 440M</a:t>
            </a:r>
            <a:endParaRPr lang="en-US" altLang="zh-CN"/>
          </a:p>
          <a:p>
            <a:pPr algn="l"/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3662680" y="3244215"/>
            <a:ext cx="124460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http-proxy</a:t>
            </a:r>
            <a:r>
              <a:rPr lang="zh-CN" altLang="en-US"/>
              <a:t>代理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80415" y="360680"/>
            <a:ext cx="9209405" cy="4421505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56945" y="516890"/>
            <a:ext cx="76542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/>
              <a:t>超级块</a:t>
            </a:r>
            <a:r>
              <a:rPr lang="en-US" altLang="zh-CN"/>
              <a:t>  </a:t>
            </a:r>
            <a:r>
              <a:rPr lang="zh-CN" altLang="en-US"/>
              <a:t>包含</a:t>
            </a:r>
            <a:r>
              <a:rPr lang="en-US" altLang="zh-CN"/>
              <a:t>256</a:t>
            </a:r>
            <a:r>
              <a:rPr lang="zh-CN" altLang="en-US"/>
              <a:t>个</a:t>
            </a:r>
            <a:r>
              <a:rPr lang="zh-CN" altLang="en-US"/>
              <a:t>参数</a:t>
            </a:r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1017905" y="2047240"/>
            <a:ext cx="3277870" cy="1381760"/>
            <a:chOff x="1604" y="1646"/>
            <a:chExt cx="4748" cy="2176"/>
          </a:xfrm>
        </p:grpSpPr>
        <p:grpSp>
          <p:nvGrpSpPr>
            <p:cNvPr id="13" name="组合 12"/>
            <p:cNvGrpSpPr/>
            <p:nvPr/>
          </p:nvGrpSpPr>
          <p:grpSpPr>
            <a:xfrm>
              <a:off x="1604" y="2998"/>
              <a:ext cx="4749" cy="824"/>
              <a:chOff x="1604" y="3742"/>
              <a:chExt cx="5042" cy="1040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604" y="3742"/>
                <a:ext cx="5042" cy="10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730" y="3896"/>
                <a:ext cx="4831" cy="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noAutofit/>
              </a:bodyPr>
              <a:lstStyle/>
              <a:p>
                <a:pPr algn="l"/>
                <a:r>
                  <a:rPr lang="zh-CN" altLang="en-US"/>
                  <a:t>超级块最小值</a:t>
                </a:r>
                <a:r>
                  <a:rPr lang="en-US" altLang="zh-CN"/>
                  <a:t>       16</a:t>
                </a:r>
                <a:r>
                  <a:rPr lang="en-US" altLang="zh-CN"/>
                  <a:t>bits   d</a:t>
                </a:r>
                <a:r>
                  <a:rPr lang="en-US" altLang="zh-CN"/>
                  <a:t>min</a:t>
                </a:r>
                <a:endParaRPr lang="en-US" altLang="zh-CN"/>
              </a:p>
            </p:txBody>
          </p:sp>
        </p:grpSp>
        <p:sp>
          <p:nvSpPr>
            <p:cNvPr id="4" name="矩形 3"/>
            <p:cNvSpPr/>
            <p:nvPr/>
          </p:nvSpPr>
          <p:spPr>
            <a:xfrm>
              <a:off x="1604" y="1646"/>
              <a:ext cx="4748" cy="8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723" y="1800"/>
              <a:ext cx="4354" cy="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/>
                <a:t>超级块缩放因子</a:t>
              </a:r>
              <a:r>
                <a:rPr lang="en-US" altLang="zh-CN"/>
                <a:t>  16bits </a:t>
              </a:r>
              <a:r>
                <a:rPr lang="en-US" altLang="zh-CN"/>
                <a:t>  </a:t>
              </a:r>
              <a:r>
                <a:rPr lang="en-US" altLang="zh-CN"/>
                <a:t>d</a:t>
              </a:r>
              <a:endParaRPr lang="en-US" altLang="zh-CN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583430" y="1045210"/>
            <a:ext cx="5640705" cy="3361055"/>
            <a:chOff x="6885" y="1646"/>
            <a:chExt cx="8883" cy="5293"/>
          </a:xfrm>
        </p:grpSpPr>
        <p:sp>
          <p:nvSpPr>
            <p:cNvPr id="32" name="矩形 31"/>
            <p:cNvSpPr/>
            <p:nvPr/>
          </p:nvSpPr>
          <p:spPr>
            <a:xfrm>
              <a:off x="6885" y="1646"/>
              <a:ext cx="6953" cy="529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 rot="0">
              <a:off x="7345" y="5421"/>
              <a:ext cx="4751" cy="763"/>
              <a:chOff x="7013" y="4465"/>
              <a:chExt cx="5298" cy="1248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7013" y="4465"/>
                <a:ext cx="5298" cy="124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7137" y="4594"/>
                <a:ext cx="4398" cy="10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 anchor="t">
                <a:noAutofit/>
              </a:bodyPr>
              <a:lstStyle/>
              <a:p>
                <a:pPr algn="l"/>
                <a:r>
                  <a:rPr lang="zh-CN" altLang="en-US">
                    <a:sym typeface="+mn-ea"/>
                  </a:rPr>
                  <a:t>单个参数</a:t>
                </a:r>
                <a:r>
                  <a:rPr lang="en-US" altLang="zh-CN">
                    <a:sym typeface="+mn-ea"/>
                  </a:rPr>
                  <a:t>          4</a:t>
                </a:r>
                <a:r>
                  <a:rPr lang="en-US" altLang="zh-CN">
                    <a:sym typeface="+mn-ea"/>
                  </a:rPr>
                  <a:t>bits</a:t>
                </a:r>
                <a:endParaRPr lang="en-US" altLang="zh-CN">
                  <a:sym typeface="+mn-ea"/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12198" y="5508"/>
              <a:ext cx="1447" cy="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en-US" altLang="zh-CN">
                  <a:sym typeface="+mn-ea"/>
                </a:rPr>
                <a:t>× 32</a:t>
              </a:r>
              <a:r>
                <a:rPr lang="zh-CN" altLang="en-US">
                  <a:sym typeface="+mn-ea"/>
                </a:rPr>
                <a:t>个</a:t>
              </a:r>
              <a:endParaRPr lang="zh-CN" altLang="en-US"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952" y="4176"/>
              <a:ext cx="1447" cy="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en-US" altLang="zh-CN">
                  <a:sym typeface="+mn-ea"/>
                </a:rPr>
                <a:t>× 8</a:t>
              </a:r>
              <a:r>
                <a:rPr lang="zh-CN" altLang="en-US">
                  <a:sym typeface="+mn-ea"/>
                </a:rPr>
                <a:t>块</a:t>
              </a:r>
              <a:endParaRPr lang="zh-CN" altLang="en-US">
                <a:sym typeface="+mn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218" y="1911"/>
              <a:ext cx="8550" cy="6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>
                  <a:sym typeface="+mn-ea"/>
                </a:rPr>
                <a:t>子块</a:t>
              </a:r>
              <a:r>
                <a:rPr lang="en-US" altLang="zh-CN">
                  <a:sym typeface="+mn-ea"/>
                </a:rPr>
                <a:t>  </a:t>
              </a:r>
              <a:r>
                <a:rPr lang="zh-CN" altLang="en-US">
                  <a:sym typeface="+mn-ea"/>
                </a:rPr>
                <a:t>包含</a:t>
              </a:r>
              <a:r>
                <a:rPr lang="en-US" altLang="zh-CN">
                  <a:sym typeface="+mn-ea"/>
                </a:rPr>
                <a:t>32</a:t>
              </a:r>
              <a:r>
                <a:rPr lang="zh-CN" altLang="en-US">
                  <a:sym typeface="+mn-ea"/>
                </a:rPr>
                <a:t>个参数</a:t>
              </a:r>
              <a:endParaRPr lang="en-US" altLang="zh-CN">
                <a:sym typeface="+mn-ea"/>
              </a:endParaRPr>
            </a:p>
            <a:p>
              <a:pPr algn="l"/>
              <a:endParaRPr lang="en-US" altLang="zh-CN">
                <a:sym typeface="+mn-ea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7346" y="2865"/>
              <a:ext cx="4749" cy="2207"/>
              <a:chOff x="10132" y="1885"/>
              <a:chExt cx="4749" cy="2207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10132" y="1885"/>
                <a:ext cx="4748" cy="8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10242" y="2057"/>
                <a:ext cx="4498" cy="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noAutofit/>
              </a:bodyPr>
              <a:lstStyle/>
              <a:p>
                <a:pPr algn="l"/>
                <a:r>
                  <a:rPr lang="zh-CN" altLang="en-US">
                    <a:sym typeface="+mn-ea"/>
                  </a:rPr>
                  <a:t>子块</a:t>
                </a:r>
                <a:r>
                  <a:rPr lang="zh-CN" altLang="en-US"/>
                  <a:t>缩放因子</a:t>
                </a:r>
                <a:r>
                  <a:rPr lang="en-US" altLang="zh-CN"/>
                  <a:t> </a:t>
                </a:r>
                <a:r>
                  <a:rPr lang="en-US"/>
                  <a:t>6bits</a:t>
                </a:r>
                <a:r>
                  <a:rPr lang="en-US" altLang="zh-CN"/>
                  <a:t>  scales</a:t>
                </a:r>
                <a:endParaRPr lang="en-US" altLang="zh-CN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0133" y="3140"/>
                <a:ext cx="4748" cy="8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0231" y="3294"/>
                <a:ext cx="4498" cy="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noAutofit/>
              </a:bodyPr>
              <a:lstStyle/>
              <a:p>
                <a:pPr algn="l"/>
                <a:r>
                  <a:rPr lang="zh-CN" altLang="en-US">
                    <a:sym typeface="+mn-ea"/>
                  </a:rPr>
                  <a:t>子块</a:t>
                </a:r>
                <a:r>
                  <a:rPr lang="zh-CN" altLang="en-US">
                    <a:sym typeface="+mn-ea"/>
                  </a:rPr>
                  <a:t>最小值</a:t>
                </a:r>
                <a:r>
                  <a:rPr lang="en-US" altLang="zh-CN"/>
                  <a:t>     </a:t>
                </a:r>
                <a:r>
                  <a:rPr lang="en-US"/>
                  <a:t>6bits</a:t>
                </a:r>
                <a:r>
                  <a:rPr lang="en-US" altLang="zh-CN"/>
                  <a:t>   mins</a:t>
                </a:r>
                <a:endParaRPr lang="en-US" altLang="zh-CN"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530985" y="1307465"/>
          <a:ext cx="241935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70"/>
                <a:gridCol w="483870"/>
                <a:gridCol w="483870"/>
                <a:gridCol w="483870"/>
                <a:gridCol w="483870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你好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叫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jzplp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今天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天气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如何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？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喜欢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使用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！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295910" y="1511300"/>
            <a:ext cx="897890" cy="229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/>
              <a:t>训练集</a:t>
            </a:r>
            <a:endParaRPr lang="zh-CN" altLang="en-US" sz="900"/>
          </a:p>
        </p:txBody>
      </p:sp>
      <p:sp>
        <p:nvSpPr>
          <p:cNvPr id="18" name="文本框 17"/>
          <p:cNvSpPr txBox="1"/>
          <p:nvPr/>
        </p:nvSpPr>
        <p:spPr>
          <a:xfrm>
            <a:off x="295910" y="3034665"/>
            <a:ext cx="897890" cy="229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/>
              <a:t>验证集</a:t>
            </a:r>
            <a:endParaRPr lang="zh-CN" altLang="en-US" sz="900"/>
          </a:p>
        </p:txBody>
      </p:sp>
      <p:sp>
        <p:nvSpPr>
          <p:cNvPr id="19" name="文本框 18"/>
          <p:cNvSpPr txBox="1"/>
          <p:nvPr/>
        </p:nvSpPr>
        <p:spPr>
          <a:xfrm>
            <a:off x="295910" y="4740275"/>
            <a:ext cx="897890" cy="229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/>
              <a:t>测试集</a:t>
            </a:r>
            <a:endParaRPr lang="zh-CN" altLang="en-US" sz="900"/>
          </a:p>
        </p:txBody>
      </p:sp>
      <p:graphicFrame>
        <p:nvGraphicFramePr>
          <p:cNvPr id="4" name="表格 3"/>
          <p:cNvGraphicFramePr/>
          <p:nvPr/>
        </p:nvGraphicFramePr>
        <p:xfrm>
          <a:off x="1530985" y="3034665"/>
          <a:ext cx="2419350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70"/>
                <a:gridCol w="483870"/>
                <a:gridCol w="483870"/>
                <a:gridCol w="483870"/>
                <a:gridCol w="483870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今天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天气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很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好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呀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1531620" y="4726305"/>
          <a:ext cx="2419350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70"/>
                <a:gridCol w="483870"/>
                <a:gridCol w="483870"/>
                <a:gridCol w="483870"/>
                <a:gridCol w="483870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你好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世界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你好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1487170" y="1558290"/>
            <a:ext cx="2960370" cy="24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950970" y="1558290"/>
            <a:ext cx="4965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Batch</a:t>
            </a:r>
            <a:endParaRPr lang="en-US" altLang="zh-CN" sz="1000"/>
          </a:p>
        </p:txBody>
      </p:sp>
      <p:sp>
        <p:nvSpPr>
          <p:cNvPr id="13" name="圆角矩形 12"/>
          <p:cNvSpPr/>
          <p:nvPr/>
        </p:nvSpPr>
        <p:spPr>
          <a:xfrm>
            <a:off x="7754938" y="1361440"/>
            <a:ext cx="1480185" cy="5334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多层神经网络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内含大量参数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7754938" y="2357120"/>
            <a:ext cx="1480185" cy="24320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Softmax</a:t>
            </a:r>
            <a:r>
              <a:rPr lang="zh-CN" altLang="en-US" sz="1000">
                <a:solidFill>
                  <a:schemeClr val="tx1"/>
                </a:solidFill>
              </a:rPr>
              <a:t>归一化函数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右箭头 26"/>
          <p:cNvSpPr/>
          <p:nvPr/>
        </p:nvSpPr>
        <p:spPr>
          <a:xfrm rot="5400000">
            <a:off x="8317230" y="2034540"/>
            <a:ext cx="355600" cy="1822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/>
          </a:p>
        </p:txBody>
      </p:sp>
      <p:sp>
        <p:nvSpPr>
          <p:cNvPr id="24" name="文本框 23"/>
          <p:cNvSpPr txBox="1"/>
          <p:nvPr/>
        </p:nvSpPr>
        <p:spPr>
          <a:xfrm>
            <a:off x="5318125" y="1215390"/>
            <a:ext cx="1250315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 dirty="0"/>
              <a:t>转换为</a:t>
            </a:r>
            <a:r>
              <a:rPr lang="en-US" altLang="zh-CN" sz="1000" dirty="0"/>
              <a:t>token</a:t>
            </a:r>
            <a:r>
              <a:rPr lang="zh-CN" altLang="en-US" sz="1000" dirty="0"/>
              <a:t>序列</a:t>
            </a:r>
            <a:endParaRPr lang="zh-CN" altLang="en-US" sz="1000" dirty="0"/>
          </a:p>
        </p:txBody>
      </p:sp>
      <p:sp>
        <p:nvSpPr>
          <p:cNvPr id="25" name="文本框 24"/>
          <p:cNvSpPr txBox="1"/>
          <p:nvPr/>
        </p:nvSpPr>
        <p:spPr>
          <a:xfrm>
            <a:off x="8552815" y="1992630"/>
            <a:ext cx="1402715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dirty="0"/>
              <a:t>logits</a:t>
            </a:r>
            <a:r>
              <a:rPr lang="zh-CN" altLang="en-US" sz="1000" dirty="0"/>
              <a:t>词分数</a:t>
            </a:r>
            <a:r>
              <a:rPr lang="zh-CN" altLang="en-US" sz="1000" dirty="0"/>
              <a:t>向量</a:t>
            </a:r>
            <a:endParaRPr lang="zh-CN" altLang="en-US" sz="1000" dirty="0"/>
          </a:p>
        </p:txBody>
      </p:sp>
      <p:sp>
        <p:nvSpPr>
          <p:cNvPr id="26" name="圆角矩形 25"/>
          <p:cNvSpPr/>
          <p:nvPr/>
        </p:nvSpPr>
        <p:spPr>
          <a:xfrm>
            <a:off x="7754938" y="3113405"/>
            <a:ext cx="1480185" cy="24320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sym typeface="+mn-ea"/>
              </a:rPr>
              <a:t>交叉熵</a:t>
            </a:r>
            <a:r>
              <a:rPr lang="en-US" altLang="zh-CN" sz="1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1000">
                <a:solidFill>
                  <a:schemeClr val="tx1"/>
                </a:solidFill>
              </a:rPr>
              <a:t>损失函数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右箭头 26"/>
          <p:cNvSpPr/>
          <p:nvPr/>
        </p:nvSpPr>
        <p:spPr>
          <a:xfrm rot="5400000">
            <a:off x="8317230" y="2765425"/>
            <a:ext cx="355600" cy="1822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/>
          </a:p>
        </p:txBody>
      </p:sp>
      <p:sp>
        <p:nvSpPr>
          <p:cNvPr id="30" name="文本框 29"/>
          <p:cNvSpPr txBox="1"/>
          <p:nvPr/>
        </p:nvSpPr>
        <p:spPr>
          <a:xfrm>
            <a:off x="8552815" y="2710180"/>
            <a:ext cx="91821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 dirty="0"/>
              <a:t>词</a:t>
            </a:r>
            <a:r>
              <a:rPr lang="zh-CN" altLang="en-US" sz="1000" dirty="0"/>
              <a:t>概率向量</a:t>
            </a:r>
            <a:endParaRPr lang="zh-CN" altLang="en-US" sz="1000" dirty="0"/>
          </a:p>
        </p:txBody>
      </p:sp>
      <p:sp>
        <p:nvSpPr>
          <p:cNvPr id="31" name="右箭头 26"/>
          <p:cNvSpPr/>
          <p:nvPr/>
        </p:nvSpPr>
        <p:spPr>
          <a:xfrm rot="5400000">
            <a:off x="8317230" y="3521710"/>
            <a:ext cx="355600" cy="1822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/>
          </a:p>
        </p:txBody>
      </p:sp>
      <p:sp>
        <p:nvSpPr>
          <p:cNvPr id="32" name="文本框 31"/>
          <p:cNvSpPr txBox="1"/>
          <p:nvPr/>
        </p:nvSpPr>
        <p:spPr>
          <a:xfrm>
            <a:off x="8552815" y="3427730"/>
            <a:ext cx="584835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dirty="0"/>
              <a:t>Loss</a:t>
            </a:r>
            <a:r>
              <a:rPr lang="zh-CN" altLang="en-US" sz="1000" dirty="0"/>
              <a:t>值</a:t>
            </a:r>
            <a:endParaRPr lang="en-US" altLang="zh-CN" sz="1000" dirty="0"/>
          </a:p>
        </p:txBody>
      </p:sp>
      <p:sp>
        <p:nvSpPr>
          <p:cNvPr id="33" name="圆角矩形 32"/>
          <p:cNvSpPr/>
          <p:nvPr/>
        </p:nvSpPr>
        <p:spPr>
          <a:xfrm>
            <a:off x="7796213" y="3989070"/>
            <a:ext cx="1397635" cy="24320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反向传播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右箭头 26"/>
          <p:cNvSpPr/>
          <p:nvPr/>
        </p:nvSpPr>
        <p:spPr>
          <a:xfrm rot="5400000">
            <a:off x="8315960" y="4421505"/>
            <a:ext cx="355600" cy="1822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/>
          </a:p>
        </p:txBody>
      </p:sp>
      <p:sp>
        <p:nvSpPr>
          <p:cNvPr id="36" name="文本框 35"/>
          <p:cNvSpPr txBox="1"/>
          <p:nvPr/>
        </p:nvSpPr>
        <p:spPr>
          <a:xfrm>
            <a:off x="8589010" y="4342765"/>
            <a:ext cx="122809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 dirty="0"/>
              <a:t>每个参数的</a:t>
            </a:r>
            <a:r>
              <a:rPr lang="zh-CN" altLang="en-US" sz="1000" dirty="0"/>
              <a:t>梯度值</a:t>
            </a:r>
            <a:endParaRPr lang="zh-CN" altLang="en-US" sz="100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7395210" y="4742815"/>
            <a:ext cx="2195830" cy="972820"/>
            <a:chOff x="3075" y="7461"/>
            <a:chExt cx="3458" cy="1532"/>
          </a:xfrm>
        </p:grpSpPr>
        <p:sp>
          <p:nvSpPr>
            <p:cNvPr id="39" name="圆角矩形 38"/>
            <p:cNvSpPr/>
            <p:nvPr/>
          </p:nvSpPr>
          <p:spPr>
            <a:xfrm>
              <a:off x="3075" y="7461"/>
              <a:ext cx="3459" cy="1533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342" y="7579"/>
              <a:ext cx="2947" cy="4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000" dirty="0"/>
                <a:t>梯度下降优化器：</a:t>
              </a:r>
              <a:r>
                <a:rPr lang="en-US" altLang="zh-CN" sz="1000" dirty="0">
                  <a:sym typeface="+mn-ea"/>
                </a:rPr>
                <a:t>AdamW</a:t>
              </a:r>
              <a:r>
                <a:rPr lang="zh-CN" altLang="en-US" sz="1000" dirty="0">
                  <a:sym typeface="+mn-ea"/>
                </a:rPr>
                <a:t>方法</a:t>
              </a:r>
              <a:endParaRPr lang="zh-CN" altLang="en-US" sz="1000" dirty="0"/>
            </a:p>
            <a:p>
              <a:endParaRPr lang="zh-CN" altLang="en-US" sz="1000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804" y="7998"/>
              <a:ext cx="2174" cy="9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000" dirty="0"/>
                <a:t>一阶矩</a:t>
              </a:r>
              <a:r>
                <a:rPr lang="en-US" altLang="zh-CN" sz="1000" dirty="0"/>
                <a:t> </a:t>
              </a:r>
              <a:r>
                <a:rPr lang="zh-CN" altLang="en-US" sz="1000" dirty="0"/>
                <a:t>动量法</a:t>
              </a:r>
              <a:endParaRPr lang="zh-CN" altLang="en-US" sz="1000" dirty="0"/>
            </a:p>
            <a:p>
              <a:r>
                <a:rPr lang="zh-CN" altLang="en-US" sz="1000" dirty="0">
                  <a:sym typeface="+mn-ea"/>
                </a:rPr>
                <a:t>二阶矩</a:t>
              </a:r>
              <a:r>
                <a:rPr lang="en-US" altLang="zh-CN" sz="1000" dirty="0">
                  <a:sym typeface="+mn-ea"/>
                </a:rPr>
                <a:t> </a:t>
              </a:r>
              <a:r>
                <a:rPr lang="en-US" altLang="zh-CN" sz="1000" dirty="0"/>
                <a:t>RMSProp</a:t>
              </a:r>
              <a:endParaRPr lang="en-US" altLang="zh-CN" sz="1000" dirty="0"/>
            </a:p>
            <a:p>
              <a:r>
                <a:rPr lang="en-US" altLang="zh-CN" sz="1000" dirty="0">
                  <a:sym typeface="+mn-ea"/>
                </a:rPr>
                <a:t>L2</a:t>
              </a:r>
              <a:r>
                <a:rPr lang="zh-CN" altLang="en-US" sz="1000" dirty="0">
                  <a:sym typeface="+mn-ea"/>
                </a:rPr>
                <a:t>正则化</a:t>
              </a:r>
              <a:endParaRPr lang="zh-CN" altLang="en-US" sz="1000" dirty="0"/>
            </a:p>
          </p:txBody>
        </p:sp>
      </p:grpSp>
      <p:sp>
        <p:nvSpPr>
          <p:cNvPr id="47" name="右箭头 26"/>
          <p:cNvSpPr/>
          <p:nvPr/>
        </p:nvSpPr>
        <p:spPr>
          <a:xfrm>
            <a:off x="4630420" y="1490345"/>
            <a:ext cx="2625090" cy="2286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/>
          </a:p>
        </p:txBody>
      </p:sp>
      <p:sp>
        <p:nvSpPr>
          <p:cNvPr id="48" name="圆角矩形 47"/>
          <p:cNvSpPr/>
          <p:nvPr/>
        </p:nvSpPr>
        <p:spPr>
          <a:xfrm>
            <a:off x="5775325" y="1823720"/>
            <a:ext cx="1480185" cy="5334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学习率</a:t>
            </a:r>
            <a:r>
              <a:rPr lang="zh-CN" altLang="en-US" sz="1000">
                <a:solidFill>
                  <a:schemeClr val="tx1"/>
                </a:solidFill>
              </a:rPr>
              <a:t>调度器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</a:rPr>
              <a:t>wramup + </a:t>
            </a:r>
            <a:r>
              <a:rPr lang="zh-CN" altLang="en-US" sz="1000">
                <a:solidFill>
                  <a:schemeClr val="tx1"/>
                </a:solidFill>
              </a:rPr>
              <a:t>余弦退火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49" name="手杖形箭头 48"/>
          <p:cNvSpPr/>
          <p:nvPr/>
        </p:nvSpPr>
        <p:spPr>
          <a:xfrm rot="5400000" flipH="1">
            <a:off x="8201660" y="3044190"/>
            <a:ext cx="3802380" cy="735965"/>
          </a:xfrm>
          <a:prstGeom prst="uturnArrow">
            <a:avLst>
              <a:gd name="adj1" fmla="val 9149"/>
              <a:gd name="adj2" fmla="val 13093"/>
              <a:gd name="adj3" fmla="val 13933"/>
              <a:gd name="adj4" fmla="val 44480"/>
              <a:gd name="adj5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0471150" y="3090545"/>
            <a:ext cx="85344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 dirty="0"/>
              <a:t>更新参数</a:t>
            </a:r>
            <a:r>
              <a:rPr lang="zh-CN" altLang="en-US" sz="1000" dirty="0"/>
              <a:t>值</a:t>
            </a:r>
            <a:endParaRPr lang="zh-CN" altLang="en-US" sz="1000" dirty="0"/>
          </a:p>
        </p:txBody>
      </p:sp>
      <p:sp>
        <p:nvSpPr>
          <p:cNvPr id="58" name="文本框 57"/>
          <p:cNvSpPr txBox="1"/>
          <p:nvPr/>
        </p:nvSpPr>
        <p:spPr>
          <a:xfrm>
            <a:off x="6452235" y="5372735"/>
            <a:ext cx="90678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 dirty="0"/>
              <a:t>更新</a:t>
            </a:r>
            <a:r>
              <a:rPr lang="zh-CN" altLang="en-US" sz="1000" dirty="0"/>
              <a:t>学习率</a:t>
            </a:r>
            <a:endParaRPr lang="zh-CN" altLang="en-US" sz="1000" dirty="0"/>
          </a:p>
        </p:txBody>
      </p:sp>
      <p:sp>
        <p:nvSpPr>
          <p:cNvPr id="59" name="文本框 58"/>
          <p:cNvSpPr txBox="1"/>
          <p:nvPr/>
        </p:nvSpPr>
        <p:spPr>
          <a:xfrm>
            <a:off x="4740910" y="1722755"/>
            <a:ext cx="79375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 dirty="0"/>
              <a:t>训练</a:t>
            </a:r>
            <a:r>
              <a:rPr lang="zh-CN" altLang="en-US" sz="1000" dirty="0"/>
              <a:t>步数</a:t>
            </a:r>
            <a:endParaRPr lang="zh-CN" altLang="en-US" sz="1000" dirty="0"/>
          </a:p>
        </p:txBody>
      </p:sp>
      <p:sp>
        <p:nvSpPr>
          <p:cNvPr id="61" name="右箭头 26"/>
          <p:cNvSpPr/>
          <p:nvPr/>
        </p:nvSpPr>
        <p:spPr>
          <a:xfrm>
            <a:off x="4128135" y="3049905"/>
            <a:ext cx="3204845" cy="228600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/>
          </a:p>
        </p:txBody>
      </p:sp>
      <p:sp>
        <p:nvSpPr>
          <p:cNvPr id="62" name="右箭头 26"/>
          <p:cNvSpPr/>
          <p:nvPr/>
        </p:nvSpPr>
        <p:spPr>
          <a:xfrm>
            <a:off x="4630420" y="1948180"/>
            <a:ext cx="1072515" cy="2286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/>
          </a:p>
        </p:txBody>
      </p:sp>
      <p:sp>
        <p:nvSpPr>
          <p:cNvPr id="66" name="右箭头 26"/>
          <p:cNvSpPr/>
          <p:nvPr/>
        </p:nvSpPr>
        <p:spPr>
          <a:xfrm rot="20220000">
            <a:off x="4017010" y="4051300"/>
            <a:ext cx="3482975" cy="228600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/>
          </a:p>
        </p:txBody>
      </p:sp>
      <p:sp>
        <p:nvSpPr>
          <p:cNvPr id="65" name="直角上箭头 64"/>
          <p:cNvSpPr/>
          <p:nvPr/>
        </p:nvSpPr>
        <p:spPr>
          <a:xfrm rot="5400000">
            <a:off x="5662930" y="3627120"/>
            <a:ext cx="2875280" cy="544830"/>
          </a:xfrm>
          <a:prstGeom prst="bentUpArrow">
            <a:avLst>
              <a:gd name="adj1" fmla="val 16550"/>
              <a:gd name="adj2" fmla="val 18065"/>
              <a:gd name="adj3" fmla="val 24708"/>
            </a:avLst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7455535" y="1177925"/>
            <a:ext cx="2230120" cy="2708275"/>
          </a:xfrm>
          <a:prstGeom prst="rect">
            <a:avLst/>
          </a:prstGeom>
          <a:noFill/>
          <a:ln w="28575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5003165" y="2804160"/>
            <a:ext cx="79375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 dirty="0"/>
              <a:t>仅计算</a:t>
            </a:r>
            <a:r>
              <a:rPr lang="en-US" altLang="zh-CN" sz="1000" dirty="0"/>
              <a:t>Loss</a:t>
            </a:r>
            <a:endParaRPr lang="en-US" altLang="zh-CN" sz="1000" dirty="0"/>
          </a:p>
        </p:txBody>
      </p:sp>
      <p:sp>
        <p:nvSpPr>
          <p:cNvPr id="69" name="文本框 68"/>
          <p:cNvSpPr txBox="1"/>
          <p:nvPr/>
        </p:nvSpPr>
        <p:spPr>
          <a:xfrm>
            <a:off x="5003165" y="3790950"/>
            <a:ext cx="79375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 dirty="0"/>
              <a:t>仅计算</a:t>
            </a:r>
            <a:r>
              <a:rPr lang="en-US" altLang="zh-CN" sz="1000" dirty="0"/>
              <a:t>Loss</a:t>
            </a:r>
            <a:endParaRPr lang="en-US" altLang="zh-CN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e8ebea44-6430-4dd4-bcdd-21c1d86577b7}"/>
  <p:tag name="TABLE_ENDDRAG_ORIGIN_RECT" val="164*208"/>
  <p:tag name="TABLE_ENDDRAG_RECT" val="144*165*164*208"/>
</p:tagLst>
</file>

<file path=ppt/tags/tag2.xml><?xml version="1.0" encoding="utf-8"?>
<p:tagLst xmlns:p="http://schemas.openxmlformats.org/presentationml/2006/main">
  <p:tag name="TABLE_ENDDRAG_ORIGIN_RECT" val="192*52"/>
  <p:tag name="TABLE_ENDDRAG_RECT" val="212*36*192*52"/>
</p:tagLst>
</file>

<file path=ppt/tags/tag3.xml><?xml version="1.0" encoding="utf-8"?>
<p:tagLst xmlns:p="http://schemas.openxmlformats.org/presentationml/2006/main">
  <p:tag name="COMMONDATA" val="eyJoZGlkIjoiMjllZmI5NGRiYWI2ZDdkMDRmZDNiMGUwOWVjNmRmODYifQ=="/>
  <p:tag name="KSO_WPP_MARK_KEY" val="7792a17e-91d7-4c44-992a-cf0a45656bd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2235</Words>
  <Application>WPS 演示</Application>
  <PresentationFormat>宽屏</PresentationFormat>
  <Paragraphs>560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贾震</dc:creator>
  <cp:lastModifiedBy>jz</cp:lastModifiedBy>
  <cp:revision>87</cp:revision>
  <dcterms:created xsi:type="dcterms:W3CDTF">2025-01-20T10:49:00Z</dcterms:created>
  <dcterms:modified xsi:type="dcterms:W3CDTF">2026-10-16T17:16:55Z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8B43CFA454234C1D9F5D5C3CC769F140</vt:lpwstr>
  </property>
  <property fmtid="{D5CDD505-2E9C-101B-9397-08002B2CF9AE}" pid="3" name="KSOProductBuildVer">
    <vt:lpwstr>2052-12.1.0.22529</vt:lpwstr>
  </property>
</Properties>
</file>